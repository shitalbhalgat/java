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6" r:id="rId3"/>
    <p:sldId id="257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76" r:id="rId12"/>
    <p:sldId id="287" r:id="rId13"/>
    <p:sldId id="278" r:id="rId14"/>
    <p:sldId id="277" r:id="rId15"/>
    <p:sldId id="279" r:id="rId16"/>
    <p:sldId id="280" r:id="rId17"/>
    <p:sldId id="281" r:id="rId18"/>
    <p:sldId id="283" r:id="rId19"/>
    <p:sldId id="282" r:id="rId20"/>
    <p:sldId id="285" r:id="rId21"/>
    <p:sldId id="267" r:id="rId22"/>
    <p:sldId id="268" r:id="rId23"/>
    <p:sldId id="269" r:id="rId24"/>
    <p:sldId id="270" r:id="rId25"/>
    <p:sldId id="272" r:id="rId26"/>
    <p:sldId id="271" r:id="rId27"/>
    <p:sldId id="275" r:id="rId28"/>
    <p:sldId id="273" r:id="rId29"/>
    <p:sldId id="290" r:id="rId30"/>
    <p:sldId id="288" r:id="rId31"/>
    <p:sldId id="289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44" autoAdjust="0"/>
    <p:restoredTop sz="94660"/>
  </p:normalViewPr>
  <p:slideViewPr>
    <p:cSldViewPr>
      <p:cViewPr varScale="1">
        <p:scale>
          <a:sx n="70" d="100"/>
          <a:sy n="70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84DBD-8013-4E6F-9E4C-BF2ECFE0C62F}" type="datetimeFigureOut">
              <a:rPr lang="en-US" smtClean="0"/>
              <a:pPr/>
              <a:t>9/6/2019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14D3D-659E-4B6C-B7B9-C61BA23D50C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84DBD-8013-4E6F-9E4C-BF2ECFE0C62F}" type="datetimeFigureOut">
              <a:rPr lang="en-US" smtClean="0"/>
              <a:pPr/>
              <a:t>9/6/2019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14D3D-659E-4B6C-B7B9-C61BA23D50C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84DBD-8013-4E6F-9E4C-BF2ECFE0C62F}" type="datetimeFigureOut">
              <a:rPr lang="en-US" smtClean="0"/>
              <a:pPr/>
              <a:t>9/6/2019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14D3D-659E-4B6C-B7B9-C61BA23D50C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84DBD-8013-4E6F-9E4C-BF2ECFE0C62F}" type="datetimeFigureOut">
              <a:rPr lang="en-US" smtClean="0"/>
              <a:pPr/>
              <a:t>9/6/2019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14D3D-659E-4B6C-B7B9-C61BA23D50C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84DBD-8013-4E6F-9E4C-BF2ECFE0C62F}" type="datetimeFigureOut">
              <a:rPr lang="en-US" smtClean="0"/>
              <a:pPr/>
              <a:t>9/6/2019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14D3D-659E-4B6C-B7B9-C61BA23D50C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84DBD-8013-4E6F-9E4C-BF2ECFE0C62F}" type="datetimeFigureOut">
              <a:rPr lang="en-US" smtClean="0"/>
              <a:pPr/>
              <a:t>9/6/2019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14D3D-659E-4B6C-B7B9-C61BA23D50C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84DBD-8013-4E6F-9E4C-BF2ECFE0C62F}" type="datetimeFigureOut">
              <a:rPr lang="en-US" smtClean="0"/>
              <a:pPr/>
              <a:t>9/6/2019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14D3D-659E-4B6C-B7B9-C61BA23D50C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84DBD-8013-4E6F-9E4C-BF2ECFE0C62F}" type="datetimeFigureOut">
              <a:rPr lang="en-US" smtClean="0"/>
              <a:pPr/>
              <a:t>9/6/2019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14D3D-659E-4B6C-B7B9-C61BA23D50C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84DBD-8013-4E6F-9E4C-BF2ECFE0C62F}" type="datetimeFigureOut">
              <a:rPr lang="en-US" smtClean="0"/>
              <a:pPr/>
              <a:t>9/6/2019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14D3D-659E-4B6C-B7B9-C61BA23D50C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84DBD-8013-4E6F-9E4C-BF2ECFE0C62F}" type="datetimeFigureOut">
              <a:rPr lang="en-US" smtClean="0"/>
              <a:pPr/>
              <a:t>9/6/2019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14D3D-659E-4B6C-B7B9-C61BA23D50C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84DBD-8013-4E6F-9E4C-BF2ECFE0C62F}" type="datetimeFigureOut">
              <a:rPr lang="en-US" smtClean="0"/>
              <a:pPr/>
              <a:t>9/6/2019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14D3D-659E-4B6C-B7B9-C61BA23D50C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C84DBD-8013-4E6F-9E4C-BF2ECFE0C62F}" type="datetimeFigureOut">
              <a:rPr lang="en-US" smtClean="0"/>
              <a:pPr/>
              <a:t>9/6/2019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514D3D-659E-4B6C-B7B9-C61BA23D50CC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0034" y="2130425"/>
            <a:ext cx="8215370" cy="2298707"/>
          </a:xfrm>
        </p:spPr>
        <p:txBody>
          <a:bodyPr>
            <a:normAutofit/>
          </a:bodyPr>
          <a:lstStyle/>
          <a:p>
            <a:r>
              <a:rPr lang="en-IN" sz="5400" b="1" dirty="0"/>
              <a:t>Interacting with Database</a:t>
            </a:r>
            <a:endParaRPr lang="en-IN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ODBC</a:t>
            </a:r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600200"/>
            <a:ext cx="8640960" cy="4709120"/>
          </a:xfrm>
        </p:spPr>
        <p:txBody>
          <a:bodyPr>
            <a:normAutofit/>
          </a:bodyPr>
          <a:lstStyle/>
          <a:p>
            <a:r>
              <a:rPr lang="en-US" sz="3600" dirty="0" smtClean="0"/>
              <a:t>ODBC stands for </a:t>
            </a:r>
            <a:r>
              <a:rPr lang="en-IN" sz="3600" b="1" dirty="0"/>
              <a:t>O</a:t>
            </a:r>
            <a:r>
              <a:rPr lang="en-IN" sz="3600" dirty="0"/>
              <a:t>pen</a:t>
            </a:r>
            <a:r>
              <a:rPr lang="en-IN" sz="3600" b="1" dirty="0"/>
              <a:t> D</a:t>
            </a:r>
            <a:r>
              <a:rPr lang="en-IN" sz="3600" dirty="0"/>
              <a:t>ata</a:t>
            </a:r>
            <a:r>
              <a:rPr lang="en-IN" sz="3600" b="1" dirty="0"/>
              <a:t>b</a:t>
            </a:r>
            <a:r>
              <a:rPr lang="en-IN" sz="3600" dirty="0"/>
              <a:t>ase</a:t>
            </a:r>
            <a:r>
              <a:rPr lang="en-IN" sz="3600" b="1" dirty="0"/>
              <a:t> </a:t>
            </a:r>
            <a:r>
              <a:rPr lang="en-IN" sz="3600" b="1" dirty="0" smtClean="0"/>
              <a:t>C</a:t>
            </a:r>
            <a:r>
              <a:rPr lang="en-IN" sz="3600" dirty="0" smtClean="0"/>
              <a:t>onnectivity</a:t>
            </a:r>
          </a:p>
          <a:p>
            <a:r>
              <a:rPr lang="en-IN" sz="3600" dirty="0"/>
              <a:t>A standard or open application programming interface (API) for accessing a </a:t>
            </a:r>
            <a:r>
              <a:rPr lang="en-IN" sz="3600" dirty="0" smtClean="0"/>
              <a:t>database.</a:t>
            </a:r>
            <a:endParaRPr lang="en-US" sz="3600" dirty="0" smtClean="0"/>
          </a:p>
          <a:p>
            <a:r>
              <a:rPr lang="en-US" sz="3600" dirty="0" smtClean="0"/>
              <a:t>ODBC </a:t>
            </a:r>
            <a:r>
              <a:rPr lang="en-US" sz="3600" dirty="0"/>
              <a:t>provides a C interface for database access on Windows environment</a:t>
            </a:r>
            <a:r>
              <a:rPr lang="en-US" sz="3600" dirty="0" smtClean="0"/>
              <a:t>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657437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en-US" b="1" dirty="0" smtClean="0"/>
              <a:t>JDBC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214422"/>
            <a:ext cx="8784976" cy="5454938"/>
          </a:xfrm>
        </p:spPr>
        <p:txBody>
          <a:bodyPr>
            <a:normAutofit/>
          </a:bodyPr>
          <a:lstStyle/>
          <a:p>
            <a:r>
              <a:rPr lang="en-IN" sz="3600" dirty="0" smtClean="0"/>
              <a:t>JDBC stands </a:t>
            </a:r>
            <a:r>
              <a:rPr lang="en-IN" sz="3600" dirty="0"/>
              <a:t>for </a:t>
            </a:r>
            <a:r>
              <a:rPr lang="en-IN" sz="3600" b="1" dirty="0"/>
              <a:t>J</a:t>
            </a:r>
            <a:r>
              <a:rPr lang="en-IN" sz="3600" dirty="0"/>
              <a:t>ava </a:t>
            </a:r>
            <a:r>
              <a:rPr lang="en-IN" sz="3600" b="1" dirty="0"/>
              <a:t>D</a:t>
            </a:r>
            <a:r>
              <a:rPr lang="en-IN" sz="3600" dirty="0"/>
              <a:t>ata</a:t>
            </a:r>
            <a:r>
              <a:rPr lang="en-IN" sz="3600" b="1" dirty="0"/>
              <a:t>b</a:t>
            </a:r>
            <a:r>
              <a:rPr lang="en-IN" sz="3600" dirty="0"/>
              <a:t>ase </a:t>
            </a:r>
            <a:r>
              <a:rPr lang="en-IN" sz="3600" b="1" dirty="0" smtClean="0"/>
              <a:t>C</a:t>
            </a:r>
            <a:r>
              <a:rPr lang="en-IN" sz="3600" dirty="0" smtClean="0"/>
              <a:t>onnectivity.</a:t>
            </a:r>
          </a:p>
          <a:p>
            <a:r>
              <a:rPr lang="en-IN" sz="3600" dirty="0" smtClean="0"/>
              <a:t>It </a:t>
            </a:r>
            <a:r>
              <a:rPr lang="en-IN" sz="3600" dirty="0"/>
              <a:t>is a standard Java API </a:t>
            </a:r>
            <a:r>
              <a:rPr lang="en-IN" sz="3600" dirty="0" smtClean="0"/>
              <a:t>for </a:t>
            </a:r>
            <a:r>
              <a:rPr lang="en-IN" sz="3600" dirty="0"/>
              <a:t>connecting programs written in Java to the data in relational databases.</a:t>
            </a:r>
            <a:r>
              <a:rPr lang="en-IN" sz="3600" dirty="0" smtClean="0"/>
              <a:t> </a:t>
            </a:r>
          </a:p>
          <a:p>
            <a:r>
              <a:rPr lang="en-IN" sz="3600" dirty="0" smtClean="0"/>
              <a:t>JDBC </a:t>
            </a:r>
            <a:r>
              <a:rPr lang="en-IN" sz="3600" dirty="0"/>
              <a:t>works with Java on a variety of platforms, such as Windows, Mac OS, and the various versions of UNIX.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JDBC Driver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600200"/>
            <a:ext cx="8640960" cy="4525963"/>
          </a:xfrm>
        </p:spPr>
        <p:txBody>
          <a:bodyPr>
            <a:normAutofit lnSpcReduction="10000"/>
          </a:bodyPr>
          <a:lstStyle/>
          <a:p>
            <a:pPr algn="just"/>
            <a:r>
              <a:rPr lang="en-IN" dirty="0"/>
              <a:t>JDBC Driver is a software component that enables java application to interact with the database</a:t>
            </a:r>
            <a:r>
              <a:rPr lang="en-IN" dirty="0" smtClean="0"/>
              <a:t>. There </a:t>
            </a:r>
            <a:r>
              <a:rPr lang="en-IN" dirty="0"/>
              <a:t>are 4 types of JDBC drivers</a:t>
            </a:r>
            <a:r>
              <a:rPr lang="en-IN" dirty="0" smtClean="0"/>
              <a:t>:</a:t>
            </a:r>
          </a:p>
          <a:p>
            <a:pPr algn="just">
              <a:buNone/>
            </a:pPr>
            <a:endParaRPr lang="en-IN" sz="1800" dirty="0"/>
          </a:p>
          <a:p>
            <a:pPr lvl="1" algn="just">
              <a:buFont typeface="Wingdings" pitchFamily="2" charset="2"/>
              <a:buChar char="Ø"/>
            </a:pPr>
            <a:r>
              <a:rPr lang="en-IN" dirty="0"/>
              <a:t>JDBC-ODBC bridge driver</a:t>
            </a:r>
          </a:p>
          <a:p>
            <a:pPr lvl="1" algn="just">
              <a:buFont typeface="Wingdings" pitchFamily="2" charset="2"/>
              <a:buChar char="Ø"/>
            </a:pPr>
            <a:r>
              <a:rPr lang="en-IN" dirty="0"/>
              <a:t>Native-API driver (partially java driver)</a:t>
            </a:r>
          </a:p>
          <a:p>
            <a:pPr lvl="1" algn="just">
              <a:buFont typeface="Wingdings" pitchFamily="2" charset="2"/>
              <a:buChar char="Ø"/>
            </a:pPr>
            <a:r>
              <a:rPr lang="en-IN" dirty="0"/>
              <a:t>JDBC-Net pure </a:t>
            </a:r>
            <a:r>
              <a:rPr lang="en-IN" dirty="0" smtClean="0"/>
              <a:t>Java/</a:t>
            </a:r>
            <a:r>
              <a:rPr lang="en-IN" dirty="0"/>
              <a:t> Network-Protocol driver </a:t>
            </a:r>
            <a:r>
              <a:rPr lang="en-IN" dirty="0" smtClean="0"/>
              <a:t>(fully </a:t>
            </a:r>
            <a:r>
              <a:rPr lang="en-IN" dirty="0"/>
              <a:t>java driver)</a:t>
            </a:r>
          </a:p>
          <a:p>
            <a:pPr lvl="1" algn="just">
              <a:buFont typeface="Wingdings" pitchFamily="2" charset="2"/>
              <a:buChar char="Ø"/>
            </a:pPr>
            <a:r>
              <a:rPr lang="en-IN" dirty="0"/>
              <a:t>Pure Java Driver </a:t>
            </a:r>
            <a:r>
              <a:rPr lang="en-IN" dirty="0" smtClean="0"/>
              <a:t>/Thin </a:t>
            </a:r>
            <a:r>
              <a:rPr lang="en-IN" dirty="0"/>
              <a:t>driver </a:t>
            </a:r>
            <a:r>
              <a:rPr lang="en-IN" dirty="0" smtClean="0"/>
              <a:t>/ </a:t>
            </a:r>
            <a:r>
              <a:rPr lang="en-IN" dirty="0"/>
              <a:t>Database-Protocol driver</a:t>
            </a:r>
            <a:r>
              <a:rPr lang="en-IN" dirty="0" smtClean="0"/>
              <a:t>(fully </a:t>
            </a:r>
            <a:r>
              <a:rPr lang="en-IN" dirty="0"/>
              <a:t>java driver)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857256"/>
          </a:xfrm>
        </p:spPr>
        <p:txBody>
          <a:bodyPr/>
          <a:lstStyle/>
          <a:p>
            <a:r>
              <a:rPr lang="en-IN" dirty="0" smtClean="0"/>
              <a:t>JDBC-ODBC bridge driver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6712"/>
            <a:ext cx="8329642" cy="2071702"/>
          </a:xfrm>
        </p:spPr>
        <p:txBody>
          <a:bodyPr>
            <a:normAutofit fontScale="92500" lnSpcReduction="10000"/>
          </a:bodyPr>
          <a:lstStyle/>
          <a:p>
            <a:r>
              <a:rPr lang="en-IN" sz="2800" dirty="0"/>
              <a:t>The JDBC type 1 driver, also known as the </a:t>
            </a:r>
            <a:r>
              <a:rPr lang="en-IN" sz="2800" b="1" dirty="0"/>
              <a:t>JDBC-ODBC </a:t>
            </a:r>
            <a:r>
              <a:rPr lang="en-IN" sz="2800" b="1" dirty="0" smtClean="0"/>
              <a:t>bridge driver</a:t>
            </a:r>
            <a:r>
              <a:rPr lang="en-IN" sz="2800" dirty="0" smtClean="0"/>
              <a:t>.</a:t>
            </a:r>
          </a:p>
          <a:p>
            <a:r>
              <a:rPr lang="en-IN" sz="2800" dirty="0" smtClean="0"/>
              <a:t>The </a:t>
            </a:r>
            <a:r>
              <a:rPr lang="en-IN" sz="2800" dirty="0"/>
              <a:t>JDBC-ODBC bridge driver uses ODBC driver to connect to the database. The JDBC-ODBC bridge driver converts JDBC method calls into the ODBC function calls.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2924944"/>
            <a:ext cx="7500990" cy="371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928694"/>
          </a:xfrm>
        </p:spPr>
        <p:txBody>
          <a:bodyPr/>
          <a:lstStyle/>
          <a:p>
            <a:r>
              <a:rPr lang="en-IN" dirty="0" smtClean="0"/>
              <a:t>Native API driver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908720"/>
            <a:ext cx="8712968" cy="2043114"/>
          </a:xfrm>
        </p:spPr>
        <p:txBody>
          <a:bodyPr>
            <a:noAutofit/>
          </a:bodyPr>
          <a:lstStyle/>
          <a:p>
            <a:r>
              <a:rPr lang="en-IN" sz="2600" dirty="0"/>
              <a:t>The JDBC type 2 driver, also known as the </a:t>
            </a:r>
            <a:r>
              <a:rPr lang="en-IN" sz="2600" b="1" dirty="0"/>
              <a:t>Native-API driver</a:t>
            </a:r>
            <a:endParaRPr lang="en-IN" sz="2600" dirty="0" smtClean="0"/>
          </a:p>
          <a:p>
            <a:r>
              <a:rPr lang="en-IN" sz="2600" dirty="0" smtClean="0"/>
              <a:t>The </a:t>
            </a:r>
            <a:r>
              <a:rPr lang="en-IN" sz="2600" dirty="0"/>
              <a:t>Native API driver uses the client-side libraries of the database. The driver converts JDBC method calls into native calls of the database API. It is not written entirely in java.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2857496"/>
            <a:ext cx="7215238" cy="4000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en-IN" dirty="0"/>
              <a:t>JDBC-Net pure </a:t>
            </a:r>
            <a:r>
              <a:rPr lang="en-IN" dirty="0" smtClean="0"/>
              <a:t>Java Driver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836712"/>
            <a:ext cx="8784976" cy="2664296"/>
          </a:xfrm>
        </p:spPr>
        <p:txBody>
          <a:bodyPr>
            <a:noAutofit/>
          </a:bodyPr>
          <a:lstStyle/>
          <a:p>
            <a:r>
              <a:rPr lang="en-IN" sz="2400" dirty="0"/>
              <a:t>The JDBC type 3 driver, also known as the </a:t>
            </a:r>
            <a:r>
              <a:rPr lang="en-IN" sz="2400" b="1" dirty="0"/>
              <a:t>Pure Java driver </a:t>
            </a:r>
            <a:r>
              <a:rPr lang="en-IN" sz="2400" dirty="0"/>
              <a:t>for database </a:t>
            </a:r>
            <a:r>
              <a:rPr lang="en-IN" sz="2400" dirty="0" smtClean="0"/>
              <a:t>middleware. It is </a:t>
            </a:r>
            <a:r>
              <a:rPr lang="en-IN" sz="2400" dirty="0"/>
              <a:t>a database driver implementation which makes use of a middle tier between the calling program and the database. </a:t>
            </a:r>
            <a:endParaRPr lang="en-IN" sz="2400" dirty="0" smtClean="0"/>
          </a:p>
          <a:p>
            <a:r>
              <a:rPr lang="en-IN" sz="2400" dirty="0" smtClean="0"/>
              <a:t>The </a:t>
            </a:r>
            <a:r>
              <a:rPr lang="en-IN" sz="2400" dirty="0"/>
              <a:t>middle-tier (application server) converts JDBC calls directly or indirectly into a vendor-specific database protocol.</a:t>
            </a:r>
            <a:r>
              <a:rPr lang="en-IN" sz="2400" dirty="0" smtClean="0"/>
              <a:t> </a:t>
            </a:r>
            <a:r>
              <a:rPr lang="en-IN" sz="2400" dirty="0"/>
              <a:t>It is fully written in java</a:t>
            </a:r>
            <a:r>
              <a:rPr lang="en-IN" sz="2400" dirty="0" smtClean="0"/>
              <a:t>.</a:t>
            </a:r>
            <a:endParaRPr lang="en-IN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5148" y="3501008"/>
            <a:ext cx="8459340" cy="3354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857256"/>
          </a:xfrm>
        </p:spPr>
        <p:txBody>
          <a:bodyPr/>
          <a:lstStyle/>
          <a:p>
            <a:r>
              <a:rPr lang="en-IN" dirty="0"/>
              <a:t>T</a:t>
            </a:r>
            <a:r>
              <a:rPr lang="en-IN" dirty="0" smtClean="0"/>
              <a:t>hin driver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764703"/>
            <a:ext cx="8712968" cy="2313499"/>
          </a:xfrm>
        </p:spPr>
        <p:txBody>
          <a:bodyPr>
            <a:noAutofit/>
          </a:bodyPr>
          <a:lstStyle/>
          <a:p>
            <a:r>
              <a:rPr lang="en-IN" sz="2300" dirty="0">
                <a:latin typeface="Cambria" panose="02040503050406030204" pitchFamily="18" charset="0"/>
                <a:ea typeface="Cambria" panose="02040503050406030204" pitchFamily="18" charset="0"/>
              </a:rPr>
              <a:t>The JDBC type 4 driver, also known as the Direct to Database </a:t>
            </a:r>
            <a:r>
              <a:rPr lang="en-IN" sz="2300" b="1" dirty="0">
                <a:latin typeface="Cambria" panose="02040503050406030204" pitchFamily="18" charset="0"/>
                <a:ea typeface="Cambria" panose="02040503050406030204" pitchFamily="18" charset="0"/>
              </a:rPr>
              <a:t>Pure Java Driver</a:t>
            </a:r>
            <a:r>
              <a:rPr lang="en-IN" sz="2300" dirty="0">
                <a:latin typeface="Cambria" panose="02040503050406030204" pitchFamily="18" charset="0"/>
                <a:ea typeface="Cambria" panose="02040503050406030204" pitchFamily="18" charset="0"/>
              </a:rPr>
              <a:t>, is a database driver implementation that </a:t>
            </a:r>
            <a:r>
              <a:rPr lang="en-IN" sz="2300" dirty="0" smtClean="0">
                <a:latin typeface="Cambria" panose="02040503050406030204" pitchFamily="18" charset="0"/>
                <a:ea typeface="Cambria" panose="02040503050406030204" pitchFamily="18" charset="0"/>
              </a:rPr>
              <a:t>converts</a:t>
            </a:r>
            <a:r>
              <a:rPr lang="en-IN" sz="2300" dirty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IN" sz="2300" dirty="0" smtClean="0">
                <a:latin typeface="Cambria" panose="02040503050406030204" pitchFamily="18" charset="0"/>
                <a:ea typeface="Cambria" panose="02040503050406030204" pitchFamily="18" charset="0"/>
              </a:rPr>
              <a:t>JDBC</a:t>
            </a:r>
            <a:r>
              <a:rPr lang="en-IN" sz="2300" dirty="0">
                <a:latin typeface="Cambria" panose="02040503050406030204" pitchFamily="18" charset="0"/>
                <a:ea typeface="Cambria" panose="02040503050406030204" pitchFamily="18" charset="0"/>
              </a:rPr>
              <a:t> calls directly into a </a:t>
            </a:r>
            <a:r>
              <a:rPr lang="en-IN" sz="2300" dirty="0" smtClean="0">
                <a:latin typeface="Cambria" panose="02040503050406030204" pitchFamily="18" charset="0"/>
                <a:ea typeface="Cambria" panose="02040503050406030204" pitchFamily="18" charset="0"/>
              </a:rPr>
              <a:t>vendor specific</a:t>
            </a:r>
            <a:r>
              <a:rPr lang="en-IN" sz="2300" dirty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IN" sz="2300" dirty="0" smtClean="0">
                <a:latin typeface="Cambria" panose="02040503050406030204" pitchFamily="18" charset="0"/>
                <a:ea typeface="Cambria" panose="02040503050406030204" pitchFamily="18" charset="0"/>
              </a:rPr>
              <a:t>database</a:t>
            </a:r>
            <a:r>
              <a:rPr lang="en-IN" sz="2300" dirty="0">
                <a:latin typeface="Cambria" panose="02040503050406030204" pitchFamily="18" charset="0"/>
                <a:ea typeface="Cambria" panose="02040503050406030204" pitchFamily="18" charset="0"/>
              </a:rPr>
              <a:t> protocol.</a:t>
            </a:r>
            <a:endParaRPr lang="en-IN" sz="23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300" dirty="0" smtClean="0">
                <a:latin typeface="Cambria" panose="02040503050406030204" pitchFamily="18" charset="0"/>
                <a:ea typeface="Cambria" panose="02040503050406030204" pitchFamily="18" charset="0"/>
              </a:rPr>
              <a:t>That </a:t>
            </a:r>
            <a:r>
              <a:rPr lang="en-IN" sz="2300" dirty="0">
                <a:latin typeface="Cambria" panose="02040503050406030204" pitchFamily="18" charset="0"/>
                <a:ea typeface="Cambria" panose="02040503050406030204" pitchFamily="18" charset="0"/>
              </a:rPr>
              <a:t>is why it is known as thin driver. It is fully written in Java language.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3078203"/>
            <a:ext cx="7358114" cy="3786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857256"/>
          </a:xfrm>
        </p:spPr>
        <p:txBody>
          <a:bodyPr/>
          <a:lstStyle/>
          <a:p>
            <a:r>
              <a:rPr lang="en-IN" dirty="0"/>
              <a:t>JDBC two tier </a:t>
            </a:r>
            <a:r>
              <a:rPr lang="en-IN" dirty="0" smtClean="0"/>
              <a:t>model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857233"/>
            <a:ext cx="8229600" cy="1059599"/>
          </a:xfrm>
        </p:spPr>
        <p:txBody>
          <a:bodyPr>
            <a:normAutofit/>
          </a:bodyPr>
          <a:lstStyle/>
          <a:p>
            <a:pPr algn="just"/>
            <a:r>
              <a:rPr lang="en-IN" sz="2800" dirty="0"/>
              <a:t>In a two-tier model, a Java </a:t>
            </a:r>
            <a:r>
              <a:rPr lang="en-IN" sz="2800" dirty="0" smtClean="0"/>
              <a:t>application </a:t>
            </a:r>
            <a:r>
              <a:rPr lang="en-IN" sz="2800" dirty="0"/>
              <a:t>communicates directly with the database, via the JDBC driver. </a:t>
            </a:r>
          </a:p>
        </p:txBody>
      </p:sp>
      <p:pic>
        <p:nvPicPr>
          <p:cNvPr id="4" name="Picture 3" descr="http://www-12.lotus.com/ldd/doc/drivers/jdbc/1.1/jdbc.nsf/66208c256b4136a2852563c000646f8c/70314bb11bd29758852567cc005c8505/Body/0.210?OpenElement&amp;FieldElemFormat=gif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66" y="2420888"/>
            <a:ext cx="6143668" cy="42228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6712"/>
            <a:ext cx="8435280" cy="1857388"/>
          </a:xfrm>
        </p:spPr>
        <p:txBody>
          <a:bodyPr>
            <a:normAutofit/>
          </a:bodyPr>
          <a:lstStyle/>
          <a:p>
            <a:r>
              <a:rPr lang="en-IN" sz="2800" dirty="0"/>
              <a:t>In a three-tier model, a Java </a:t>
            </a:r>
            <a:r>
              <a:rPr lang="en-IN" sz="2800" dirty="0" smtClean="0"/>
              <a:t>application communicates </a:t>
            </a:r>
            <a:r>
              <a:rPr lang="en-IN" sz="2800" dirty="0"/>
              <a:t>with a middle tier component that functions as an application server. The application server talks to a given database using JDBC.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796908"/>
          </a:xfrm>
        </p:spPr>
        <p:txBody>
          <a:bodyPr/>
          <a:lstStyle/>
          <a:p>
            <a:r>
              <a:rPr lang="en-IN" dirty="0"/>
              <a:t>JDBC </a:t>
            </a:r>
            <a:r>
              <a:rPr lang="en-IN" dirty="0" smtClean="0"/>
              <a:t>three </a:t>
            </a:r>
            <a:r>
              <a:rPr lang="en-IN" dirty="0"/>
              <a:t>tier </a:t>
            </a:r>
            <a:r>
              <a:rPr lang="en-IN" dirty="0" smtClean="0"/>
              <a:t>model</a:t>
            </a:r>
            <a:endParaRPr lang="en-IN" dirty="0"/>
          </a:p>
        </p:txBody>
      </p:sp>
      <p:pic>
        <p:nvPicPr>
          <p:cNvPr id="5" name="Picture 4" descr="http://www-12.lotus.com/ldd/doc/drivers/jdbc/1.1/jdbc.nsf/66208c256b4136a2852563c000646f8c/70314bb11bd29758852567cc005c8505/Body/0.2956?OpenElement&amp;FieldElemFormat=gif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71670" y="2708920"/>
            <a:ext cx="5143536" cy="40062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857256"/>
          </a:xfrm>
        </p:spPr>
        <p:txBody>
          <a:bodyPr>
            <a:normAutofit/>
          </a:bodyPr>
          <a:lstStyle/>
          <a:p>
            <a:r>
              <a:rPr lang="en-IN" dirty="0" smtClean="0"/>
              <a:t>Common JDBC Components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7494"/>
            <a:ext cx="8435280" cy="5357850"/>
          </a:xfrm>
        </p:spPr>
        <p:txBody>
          <a:bodyPr>
            <a:normAutofit/>
          </a:bodyPr>
          <a:lstStyle/>
          <a:p>
            <a:pPr algn="just"/>
            <a:r>
              <a:rPr lang="en-IN" dirty="0" smtClean="0"/>
              <a:t>The </a:t>
            </a:r>
            <a:r>
              <a:rPr lang="en-IN" dirty="0"/>
              <a:t>JDBC API provides the following interfaces and classes </a:t>
            </a:r>
            <a:r>
              <a:rPr lang="en-IN" dirty="0" smtClean="0"/>
              <a:t>−</a:t>
            </a:r>
          </a:p>
          <a:p>
            <a:pPr algn="just"/>
            <a:r>
              <a:rPr lang="en-IN" b="1" dirty="0" err="1"/>
              <a:t>DriverManager</a:t>
            </a:r>
            <a:r>
              <a:rPr lang="en-IN" b="1" dirty="0"/>
              <a:t> Class</a:t>
            </a:r>
          </a:p>
          <a:p>
            <a:pPr algn="just"/>
            <a:r>
              <a:rPr lang="en-IN" b="1" dirty="0"/>
              <a:t>Driver Interface</a:t>
            </a:r>
          </a:p>
          <a:p>
            <a:pPr algn="just"/>
            <a:r>
              <a:rPr lang="en-IN" b="1" dirty="0"/>
              <a:t>Connection Interface</a:t>
            </a:r>
            <a:endParaRPr lang="en-IN" dirty="0"/>
          </a:p>
          <a:p>
            <a:pPr algn="just"/>
            <a:r>
              <a:rPr lang="en-IN" b="1" dirty="0"/>
              <a:t>Statement Interface</a:t>
            </a:r>
          </a:p>
          <a:p>
            <a:pPr algn="just"/>
            <a:r>
              <a:rPr lang="en-IN" b="1" dirty="0" err="1"/>
              <a:t>ResultSet</a:t>
            </a:r>
            <a:r>
              <a:rPr lang="en-IN" b="1" dirty="0"/>
              <a:t> Interface</a:t>
            </a:r>
          </a:p>
          <a:p>
            <a:pPr marL="0" indent="0" algn="just">
              <a:buNone/>
            </a:pPr>
            <a:endParaRPr lang="en-IN" dirty="0"/>
          </a:p>
          <a:p>
            <a:pPr algn="just"/>
            <a:endParaRPr lang="en-IN" dirty="0"/>
          </a:p>
          <a:p>
            <a:pPr algn="just"/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268760"/>
            <a:ext cx="8712968" cy="49685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 err="1"/>
              <a:t>DriverManager</a:t>
            </a:r>
            <a:r>
              <a:rPr lang="en-IN" b="1" dirty="0"/>
              <a:t> </a:t>
            </a:r>
            <a:r>
              <a:rPr lang="en-IN" b="1" dirty="0" smtClean="0"/>
              <a:t>Class</a:t>
            </a:r>
            <a:endParaRPr lang="en-IN" b="1" dirty="0"/>
          </a:p>
          <a:p>
            <a:r>
              <a:rPr lang="en-IN" dirty="0" smtClean="0"/>
              <a:t>The </a:t>
            </a:r>
            <a:r>
              <a:rPr lang="en-IN" dirty="0" err="1"/>
              <a:t>DriverManager</a:t>
            </a:r>
            <a:r>
              <a:rPr lang="en-IN" dirty="0"/>
              <a:t> class acts as an interface between user and drivers. </a:t>
            </a:r>
          </a:p>
          <a:p>
            <a:r>
              <a:rPr lang="en-IN" dirty="0"/>
              <a:t>It </a:t>
            </a:r>
            <a:r>
              <a:rPr lang="en-IN" b="1" dirty="0"/>
              <a:t>keeps track of the drivers </a:t>
            </a:r>
            <a:r>
              <a:rPr lang="en-IN" dirty="0"/>
              <a:t>that are available and handles </a:t>
            </a:r>
            <a:r>
              <a:rPr lang="en-IN" b="1" dirty="0"/>
              <a:t>establishing a connection </a:t>
            </a:r>
            <a:r>
              <a:rPr lang="en-IN" dirty="0"/>
              <a:t>between a database and the appropriate driver. </a:t>
            </a:r>
          </a:p>
          <a:p>
            <a:r>
              <a:rPr lang="en-IN" dirty="0"/>
              <a:t>The </a:t>
            </a:r>
            <a:r>
              <a:rPr lang="en-IN" dirty="0" err="1"/>
              <a:t>DriverManager</a:t>
            </a:r>
            <a:r>
              <a:rPr lang="en-IN" dirty="0"/>
              <a:t> class maintains a list of Driver classes that have registered themselves by calling the method </a:t>
            </a:r>
            <a:r>
              <a:rPr lang="en-IN" b="1" i="1" dirty="0" err="1"/>
              <a:t>DriverManager.registerDriver</a:t>
            </a:r>
            <a:r>
              <a:rPr lang="en-IN" b="1" i="1" dirty="0"/>
              <a:t>()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857256"/>
          </a:xfrm>
        </p:spPr>
        <p:txBody>
          <a:bodyPr>
            <a:normAutofit/>
          </a:bodyPr>
          <a:lstStyle/>
          <a:p>
            <a:r>
              <a:rPr lang="en-IN" dirty="0" smtClean="0"/>
              <a:t>Common JDBC Components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33782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5590103"/>
              </p:ext>
            </p:extLst>
          </p:nvPr>
        </p:nvGraphicFramePr>
        <p:xfrm>
          <a:off x="142844" y="857231"/>
          <a:ext cx="9001156" cy="5786479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5328704"/>
                <a:gridCol w="3672452"/>
              </a:tblGrid>
              <a:tr h="526043">
                <a:tc>
                  <a:txBody>
                    <a:bodyPr/>
                    <a:lstStyle/>
                    <a:p>
                      <a:pPr marL="190500" marR="107950" algn="ctr">
                        <a:lnSpc>
                          <a:spcPts val="1725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 smtClean="0">
                          <a:latin typeface="Calibri"/>
                          <a:ea typeface="Calibri"/>
                          <a:cs typeface="Times New Roman"/>
                        </a:rPr>
                        <a:t>Method</a:t>
                      </a:r>
                      <a:endParaRPr lang="en-IN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190500" marR="107950" algn="ctr">
                        <a:lnSpc>
                          <a:spcPts val="1725"/>
                        </a:lnSpc>
                        <a:spcAft>
                          <a:spcPts val="0"/>
                        </a:spcAft>
                      </a:pPr>
                      <a:r>
                        <a:rPr lang="en-US" sz="2400" b="1" dirty="0" smtClean="0">
                          <a:latin typeface="Calibri"/>
                          <a:ea typeface="Calibri"/>
                          <a:cs typeface="Times New Roman"/>
                        </a:rPr>
                        <a:t>Description</a:t>
                      </a:r>
                      <a:endParaRPr lang="en-IN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1061054">
                <a:tc>
                  <a:txBody>
                    <a:bodyPr/>
                    <a:lstStyle/>
                    <a:p>
                      <a:pPr marL="190500" marR="10795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 b="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public </a:t>
                      </a:r>
                      <a:r>
                        <a:rPr lang="en-IN" sz="20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static void </a:t>
                      </a:r>
                      <a:r>
                        <a:rPr lang="en-IN" sz="2000" b="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registerDriver</a:t>
                      </a:r>
                      <a:r>
                        <a:rPr lang="en-IN" sz="2000" b="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( Driver </a:t>
                      </a:r>
                      <a:r>
                        <a:rPr lang="en-IN" sz="20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driver</a:t>
                      </a:r>
                      <a:r>
                        <a:rPr lang="en-IN" sz="2000" b="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);</a:t>
                      </a:r>
                      <a:endParaRPr lang="en-IN" sz="2800" b="0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190500" marR="107950" algn="l">
                        <a:lnSpc>
                          <a:spcPts val="1725"/>
                        </a:lnSpc>
                        <a:spcAft>
                          <a:spcPts val="0"/>
                        </a:spcAft>
                      </a:pPr>
                      <a:r>
                        <a:rPr lang="en-IN" sz="1800" dirty="0"/>
                        <a:t>is used to register the given driver with </a:t>
                      </a:r>
                      <a:r>
                        <a:rPr lang="en-IN" sz="1800" dirty="0" err="1"/>
                        <a:t>DriverManager</a:t>
                      </a:r>
                      <a:r>
                        <a:rPr lang="en-IN" sz="1800" dirty="0"/>
                        <a:t>.</a:t>
                      </a:r>
                      <a:endParaRPr lang="en-IN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1569164">
                <a:tc>
                  <a:txBody>
                    <a:bodyPr/>
                    <a:lstStyle/>
                    <a:p>
                      <a:pPr marL="190500" marR="10795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 b="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public </a:t>
                      </a:r>
                      <a:r>
                        <a:rPr lang="en-IN" sz="20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static void </a:t>
                      </a:r>
                      <a:r>
                        <a:rPr lang="en-IN" sz="2000" b="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deregisterDriver</a:t>
                      </a:r>
                      <a:r>
                        <a:rPr lang="en-IN" sz="2000" b="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( Driver </a:t>
                      </a:r>
                      <a:r>
                        <a:rPr lang="en-IN" sz="2000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driver</a:t>
                      </a:r>
                      <a:r>
                        <a:rPr lang="en-IN" sz="2000" b="0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);</a:t>
                      </a:r>
                      <a:endParaRPr lang="en-IN" sz="2800" b="0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190500" marR="107950" algn="l">
                        <a:lnSpc>
                          <a:spcPts val="1725"/>
                        </a:lnSpc>
                        <a:spcAft>
                          <a:spcPts val="0"/>
                        </a:spcAft>
                      </a:pPr>
                      <a:r>
                        <a:rPr lang="en-IN" sz="1800" dirty="0"/>
                        <a:t>is used to deregister the given driver (drop the driver from the list) with </a:t>
                      </a:r>
                      <a:r>
                        <a:rPr lang="en-IN" sz="1800" dirty="0" err="1"/>
                        <a:t>DriverManager</a:t>
                      </a:r>
                      <a:r>
                        <a:rPr lang="en-IN" sz="1800" dirty="0"/>
                        <a:t>.</a:t>
                      </a:r>
                      <a:endParaRPr lang="en-IN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1061054">
                <a:tc>
                  <a:txBody>
                    <a:bodyPr/>
                    <a:lstStyle/>
                    <a:p>
                      <a:pPr marL="190500" marR="10795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public </a:t>
                      </a:r>
                      <a:r>
                        <a:rPr lang="en-IN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static Connection </a:t>
                      </a:r>
                      <a:r>
                        <a:rPr lang="en-IN" sz="2000" b="1" dirty="0" err="1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getConnection</a:t>
                      </a:r>
                      <a:r>
                        <a:rPr lang="en-IN" sz="2000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( String </a:t>
                      </a:r>
                      <a:r>
                        <a:rPr lang="en-IN" sz="2000" b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url</a:t>
                      </a:r>
                      <a:r>
                        <a:rPr lang="en-IN" sz="2000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);</a:t>
                      </a:r>
                      <a:endParaRPr lang="en-IN" sz="2800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190500" marR="107950" algn="l">
                        <a:lnSpc>
                          <a:spcPts val="1725"/>
                        </a:lnSpc>
                        <a:spcAft>
                          <a:spcPts val="0"/>
                        </a:spcAft>
                      </a:pPr>
                      <a:r>
                        <a:rPr lang="en-IN" sz="1800" dirty="0"/>
                        <a:t>is used to establish the connection with the specified </a:t>
                      </a:r>
                      <a:r>
                        <a:rPr lang="en-IN" sz="1800" dirty="0" err="1"/>
                        <a:t>url</a:t>
                      </a:r>
                      <a:r>
                        <a:rPr lang="en-IN" sz="1800" dirty="0"/>
                        <a:t>.</a:t>
                      </a:r>
                      <a:endParaRPr lang="en-IN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1569164">
                <a:tc>
                  <a:txBody>
                    <a:bodyPr/>
                    <a:lstStyle/>
                    <a:p>
                      <a:pPr marL="190500" marR="10795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public </a:t>
                      </a:r>
                      <a:r>
                        <a:rPr lang="en-IN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static Connection </a:t>
                      </a:r>
                      <a:r>
                        <a:rPr lang="en-IN" sz="2000" b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getConnection</a:t>
                      </a:r>
                      <a:r>
                        <a:rPr lang="en-IN" sz="2000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( String </a:t>
                      </a:r>
                      <a:r>
                        <a:rPr lang="en-IN" sz="2000" b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url</a:t>
                      </a:r>
                      <a:r>
                        <a:rPr lang="en-IN" sz="2000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 String </a:t>
                      </a:r>
                      <a:r>
                        <a:rPr lang="en-IN" sz="2000" b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userName</a:t>
                      </a:r>
                      <a:r>
                        <a:rPr lang="en-IN" sz="2000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 String </a:t>
                      </a:r>
                      <a:r>
                        <a:rPr lang="en-IN" sz="20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password</a:t>
                      </a:r>
                      <a:r>
                        <a:rPr lang="en-IN" sz="2000" b="1" dirty="0" smtClean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);</a:t>
                      </a:r>
                      <a:endParaRPr lang="en-IN" sz="2800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190500" marR="107950" algn="l">
                        <a:lnSpc>
                          <a:spcPts val="1725"/>
                        </a:lnSpc>
                        <a:spcAft>
                          <a:spcPts val="0"/>
                        </a:spcAft>
                      </a:pPr>
                      <a:r>
                        <a:rPr lang="en-IN" sz="1800" dirty="0"/>
                        <a:t>is used to establish the connection with the specified </a:t>
                      </a:r>
                      <a:r>
                        <a:rPr lang="en-IN" sz="1800" dirty="0" err="1"/>
                        <a:t>url</a:t>
                      </a:r>
                      <a:r>
                        <a:rPr lang="en-IN" sz="1800" dirty="0"/>
                        <a:t>, username and password.</a:t>
                      </a:r>
                      <a:endParaRPr lang="en-IN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57158" y="119698"/>
            <a:ext cx="800105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/>
              <a:t>Commonly used methods of </a:t>
            </a:r>
            <a:r>
              <a:rPr lang="en-IN" sz="2800" b="1" dirty="0" err="1"/>
              <a:t>DriverManager</a:t>
            </a:r>
            <a:r>
              <a:rPr lang="en-IN" sz="2800" b="1" dirty="0"/>
              <a:t> class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071547"/>
            <a:ext cx="8712968" cy="4805726"/>
          </a:xfrm>
        </p:spPr>
        <p:txBody>
          <a:bodyPr>
            <a:normAutofit/>
          </a:bodyPr>
          <a:lstStyle/>
          <a:p>
            <a:r>
              <a:rPr lang="en-IN" dirty="0" smtClean="0"/>
              <a:t>This </a:t>
            </a:r>
            <a:r>
              <a:rPr lang="en-IN" dirty="0" smtClean="0"/>
              <a:t>interface </a:t>
            </a:r>
            <a:r>
              <a:rPr lang="en-IN" b="1" dirty="0" smtClean="0"/>
              <a:t>handles the communications with the database server</a:t>
            </a:r>
            <a:r>
              <a:rPr lang="en-IN" dirty="0" smtClean="0"/>
              <a:t>. </a:t>
            </a:r>
          </a:p>
          <a:p>
            <a:r>
              <a:rPr lang="en-IN" dirty="0" smtClean="0"/>
              <a:t>You will </a:t>
            </a:r>
            <a:r>
              <a:rPr lang="en-IN" dirty="0"/>
              <a:t>very rarely interact </a:t>
            </a:r>
            <a:r>
              <a:rPr lang="en-IN" dirty="0" smtClean="0"/>
              <a:t>directly with Driver objects. </a:t>
            </a:r>
            <a:endParaRPr lang="en-IN" dirty="0" smtClean="0"/>
          </a:p>
          <a:p>
            <a:r>
              <a:rPr lang="en-IN" dirty="0" smtClean="0"/>
              <a:t>Instead</a:t>
            </a:r>
            <a:r>
              <a:rPr lang="en-IN" dirty="0" smtClean="0"/>
              <a:t>, you use </a:t>
            </a:r>
            <a:r>
              <a:rPr lang="en-IN" dirty="0" err="1" smtClean="0"/>
              <a:t>DriverManager</a:t>
            </a:r>
            <a:r>
              <a:rPr lang="en-IN" dirty="0" smtClean="0"/>
              <a:t> objects, which manages objects of this type. 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857256"/>
          </a:xfrm>
        </p:spPr>
        <p:txBody>
          <a:bodyPr>
            <a:normAutofit/>
          </a:bodyPr>
          <a:lstStyle/>
          <a:p>
            <a:r>
              <a:rPr lang="en-IN" sz="3600" b="1" dirty="0"/>
              <a:t>Driver Interface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071546"/>
            <a:ext cx="8640960" cy="5054617"/>
          </a:xfrm>
        </p:spPr>
        <p:txBody>
          <a:bodyPr>
            <a:normAutofit/>
          </a:bodyPr>
          <a:lstStyle/>
          <a:p>
            <a:r>
              <a:rPr lang="en-IN" dirty="0" smtClean="0"/>
              <a:t>A </a:t>
            </a:r>
            <a:r>
              <a:rPr lang="en-IN" dirty="0" smtClean="0"/>
              <a:t>Connection is the </a:t>
            </a:r>
            <a:r>
              <a:rPr lang="en-IN" b="1" dirty="0" smtClean="0"/>
              <a:t>session between java application and database</a:t>
            </a:r>
            <a:r>
              <a:rPr lang="en-IN" dirty="0" smtClean="0"/>
              <a:t>. </a:t>
            </a:r>
          </a:p>
          <a:p>
            <a:r>
              <a:rPr lang="en-IN" dirty="0" smtClean="0"/>
              <a:t>The </a:t>
            </a:r>
            <a:r>
              <a:rPr lang="en-IN" dirty="0" smtClean="0"/>
              <a:t>Connection interface provide many methods for transaction management like commit</a:t>
            </a:r>
            <a:r>
              <a:rPr lang="en-IN" dirty="0" smtClean="0"/>
              <a:t>(), rollback</a:t>
            </a:r>
            <a:r>
              <a:rPr lang="en-IN" dirty="0" smtClean="0"/>
              <a:t>() etc.</a:t>
            </a:r>
          </a:p>
          <a:p>
            <a:r>
              <a:rPr lang="en-IN" dirty="0" smtClean="0"/>
              <a:t>When </a:t>
            </a:r>
            <a:r>
              <a:rPr lang="en-IN" dirty="0" err="1" smtClean="0"/>
              <a:t>getConnection</a:t>
            </a:r>
            <a:r>
              <a:rPr lang="en-IN" dirty="0" smtClean="0"/>
              <a:t>() method is called, it returns a connection object.</a:t>
            </a:r>
          </a:p>
          <a:p>
            <a:pPr marL="0" indent="0">
              <a:buNone/>
            </a:pPr>
            <a:r>
              <a:rPr lang="en-IN" sz="2800" b="1" dirty="0" smtClean="0"/>
              <a:t>Connection con=</a:t>
            </a:r>
            <a:r>
              <a:rPr lang="en-IN" sz="2800" b="1" dirty="0" err="1" smtClean="0"/>
              <a:t>DriverManager.getConnection</a:t>
            </a:r>
            <a:r>
              <a:rPr lang="en-IN" sz="2800" b="1" dirty="0" smtClean="0"/>
              <a:t>(URL);</a:t>
            </a:r>
            <a:endParaRPr lang="en-IN" sz="2800" b="1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857256"/>
          </a:xfrm>
        </p:spPr>
        <p:txBody>
          <a:bodyPr>
            <a:normAutofit/>
          </a:bodyPr>
          <a:lstStyle/>
          <a:p>
            <a:r>
              <a:rPr lang="en-IN" sz="3600" b="1" dirty="0"/>
              <a:t>Connection Interface</a:t>
            </a:r>
            <a:endParaRPr lang="en-IN" sz="3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472" y="214290"/>
            <a:ext cx="792961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/>
              <a:t>Commonly used methods of Connection interface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0813158"/>
              </p:ext>
            </p:extLst>
          </p:nvPr>
        </p:nvGraphicFramePr>
        <p:xfrm>
          <a:off x="214282" y="928670"/>
          <a:ext cx="8715436" cy="5596673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4285710"/>
                <a:gridCol w="4429726"/>
              </a:tblGrid>
              <a:tr h="601794">
                <a:tc>
                  <a:txBody>
                    <a:bodyPr/>
                    <a:lstStyle/>
                    <a:p>
                      <a:pPr marL="190500" marR="107950" algn="ctr">
                        <a:lnSpc>
                          <a:spcPts val="1725"/>
                        </a:lnSpc>
                        <a:spcAft>
                          <a:spcPts val="0"/>
                        </a:spcAft>
                      </a:pPr>
                      <a:r>
                        <a:rPr lang="en-US" sz="3200" dirty="0" smtClean="0"/>
                        <a:t>Method</a:t>
                      </a:r>
                      <a:endParaRPr lang="en-IN" sz="32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190500" marR="107950" algn="ctr">
                        <a:lnSpc>
                          <a:spcPts val="1725"/>
                        </a:lnSpc>
                        <a:spcAft>
                          <a:spcPts val="0"/>
                        </a:spcAft>
                      </a:pPr>
                      <a:r>
                        <a:rPr lang="en-US" sz="2400" dirty="0" smtClean="0"/>
                        <a:t>Description</a:t>
                      </a:r>
                      <a:endParaRPr lang="en-IN" sz="2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918734">
                <a:tc>
                  <a:txBody>
                    <a:bodyPr/>
                    <a:lstStyle/>
                    <a:p>
                      <a:pPr marL="190500" marR="10795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2800" dirty="0" smtClean="0"/>
                        <a:t>public </a:t>
                      </a:r>
                      <a:r>
                        <a:rPr lang="en-IN" sz="2800" dirty="0"/>
                        <a:t>Statement </a:t>
                      </a:r>
                      <a:r>
                        <a:rPr lang="en-IN" sz="2800" dirty="0" err="1"/>
                        <a:t>createStatement</a:t>
                      </a:r>
                      <a:r>
                        <a:rPr lang="en-IN" sz="2800" dirty="0" smtClean="0"/>
                        <a:t>();</a:t>
                      </a:r>
                      <a:endParaRPr lang="en-IN" sz="2800" b="0" dirty="0"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190500" marR="107950" algn="just">
                        <a:lnSpc>
                          <a:spcPts val="1725"/>
                        </a:lnSpc>
                        <a:spcAft>
                          <a:spcPts val="0"/>
                        </a:spcAft>
                      </a:pPr>
                      <a:r>
                        <a:rPr lang="en-IN" sz="2400" dirty="0" smtClean="0"/>
                        <a:t>creates a statement object that can be used to execute SQL queries.</a:t>
                      </a:r>
                      <a:endParaRPr lang="en-IN" sz="2400" b="0" dirty="0"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1368070">
                <a:tc>
                  <a:txBody>
                    <a:bodyPr/>
                    <a:lstStyle/>
                    <a:p>
                      <a:pPr marL="190500" marR="10795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2800" dirty="0" smtClean="0"/>
                        <a:t>public </a:t>
                      </a:r>
                      <a:r>
                        <a:rPr lang="en-IN" sz="2800" dirty="0"/>
                        <a:t>void </a:t>
                      </a:r>
                      <a:r>
                        <a:rPr lang="en-IN" sz="2800" dirty="0" err="1"/>
                        <a:t>setAutoCommit</a:t>
                      </a:r>
                      <a:r>
                        <a:rPr lang="en-IN" sz="2800" dirty="0"/>
                        <a:t>(</a:t>
                      </a:r>
                      <a:r>
                        <a:rPr lang="en-IN" sz="2800" dirty="0" err="1"/>
                        <a:t>boolean</a:t>
                      </a:r>
                      <a:r>
                        <a:rPr lang="en-IN" sz="2800" dirty="0"/>
                        <a:t> status</a:t>
                      </a:r>
                      <a:r>
                        <a:rPr lang="en-IN" sz="2800" dirty="0" smtClean="0"/>
                        <a:t>);</a:t>
                      </a:r>
                      <a:endParaRPr lang="en-IN" sz="2800" b="0" dirty="0"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190500" marR="107950" algn="just">
                        <a:lnSpc>
                          <a:spcPts val="1725"/>
                        </a:lnSpc>
                        <a:spcAft>
                          <a:spcPts val="0"/>
                        </a:spcAft>
                      </a:pPr>
                      <a:r>
                        <a:rPr lang="en-IN" sz="2400" dirty="0" smtClean="0"/>
                        <a:t>It is used to set the commit status. By default it is true.</a:t>
                      </a:r>
                      <a:endParaRPr lang="en-IN" sz="2400" b="0" dirty="0"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902692">
                <a:tc>
                  <a:txBody>
                    <a:bodyPr/>
                    <a:lstStyle/>
                    <a:p>
                      <a:pPr marL="190500" marR="10795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2800" dirty="0" smtClean="0"/>
                        <a:t>public </a:t>
                      </a:r>
                      <a:r>
                        <a:rPr lang="en-IN" sz="2800" dirty="0"/>
                        <a:t>void commit</a:t>
                      </a:r>
                      <a:r>
                        <a:rPr lang="en-IN" sz="2800" dirty="0" smtClean="0"/>
                        <a:t>();</a:t>
                      </a:r>
                      <a:endParaRPr lang="en-IN" sz="2800" b="0" dirty="0"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190500" marR="107950" algn="just">
                        <a:lnSpc>
                          <a:spcPts val="1725"/>
                        </a:lnSpc>
                        <a:spcAft>
                          <a:spcPts val="0"/>
                        </a:spcAft>
                      </a:pPr>
                      <a:r>
                        <a:rPr lang="en-IN" sz="2400" dirty="0" smtClean="0"/>
                        <a:t>It saves the changes made since the previous commit/rollback permanent.</a:t>
                      </a:r>
                      <a:endParaRPr lang="en-IN" sz="2400" b="0" dirty="0"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827468">
                <a:tc>
                  <a:txBody>
                    <a:bodyPr/>
                    <a:lstStyle/>
                    <a:p>
                      <a:pPr marL="190500" marR="10795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2800" dirty="0" smtClean="0"/>
                        <a:t>public </a:t>
                      </a:r>
                      <a:r>
                        <a:rPr lang="en-IN" sz="2800" dirty="0"/>
                        <a:t>void rollback</a:t>
                      </a:r>
                      <a:r>
                        <a:rPr lang="en-IN" sz="2800" dirty="0" smtClean="0"/>
                        <a:t>();</a:t>
                      </a:r>
                      <a:endParaRPr lang="en-IN" sz="2800" b="0" dirty="0"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190500" marR="107950" algn="just">
                        <a:lnSpc>
                          <a:spcPts val="1725"/>
                        </a:lnSpc>
                        <a:spcAft>
                          <a:spcPts val="0"/>
                        </a:spcAft>
                      </a:pPr>
                      <a:r>
                        <a:rPr lang="en-IN" sz="2400" dirty="0" smtClean="0"/>
                        <a:t>Drops all changes made since the previous commit/rollback.</a:t>
                      </a:r>
                      <a:endParaRPr lang="en-IN" sz="2400" b="0" dirty="0"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977915">
                <a:tc>
                  <a:txBody>
                    <a:bodyPr/>
                    <a:lstStyle/>
                    <a:p>
                      <a:pPr marL="190500" marR="10795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2800" dirty="0" smtClean="0"/>
                        <a:t>public </a:t>
                      </a:r>
                      <a:r>
                        <a:rPr lang="en-IN" sz="2800" dirty="0"/>
                        <a:t>void close</a:t>
                      </a:r>
                      <a:r>
                        <a:rPr lang="en-IN" sz="2800" dirty="0" smtClean="0"/>
                        <a:t>();</a:t>
                      </a:r>
                      <a:endParaRPr lang="en-IN" sz="2800" b="0" dirty="0"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190500" marR="107950" indent="0" algn="just" defTabSz="914400" rtl="0" eaLnBrk="1" fontAlgn="auto" latinLnBrk="0" hangingPunct="1">
                        <a:lnSpc>
                          <a:spcPts val="17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 smtClean="0"/>
                        <a:t>closes the connection and Releases a JDBC resources immediately.</a:t>
                      </a:r>
                    </a:p>
                    <a:p>
                      <a:pPr marL="190500" marR="107950" algn="just">
                        <a:lnSpc>
                          <a:spcPts val="1725"/>
                        </a:lnSpc>
                        <a:spcAft>
                          <a:spcPts val="0"/>
                        </a:spcAft>
                      </a:pPr>
                      <a:endParaRPr lang="en-IN" sz="2000" b="0" dirty="0"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054617"/>
          </a:xfrm>
        </p:spPr>
        <p:txBody>
          <a:bodyPr>
            <a:normAutofit/>
          </a:bodyPr>
          <a:lstStyle/>
          <a:p>
            <a:r>
              <a:rPr lang="en-IN" dirty="0" smtClean="0"/>
              <a:t>The</a:t>
            </a:r>
            <a:r>
              <a:rPr lang="en-IN" dirty="0"/>
              <a:t> </a:t>
            </a:r>
            <a:r>
              <a:rPr lang="en-IN" b="1" dirty="0"/>
              <a:t>Statement interface</a:t>
            </a:r>
            <a:r>
              <a:rPr lang="en-IN" dirty="0"/>
              <a:t> provides methods to execute queries with the database. </a:t>
            </a:r>
            <a:endParaRPr lang="en-IN" dirty="0" smtClean="0"/>
          </a:p>
          <a:p>
            <a:r>
              <a:rPr lang="en-IN" dirty="0" smtClean="0"/>
              <a:t>It </a:t>
            </a:r>
            <a:r>
              <a:rPr lang="en-IN" dirty="0"/>
              <a:t>provides factory method to get the object of ResultSet</a:t>
            </a:r>
            <a:r>
              <a:rPr lang="en-IN" dirty="0" smtClean="0"/>
              <a:t>.</a:t>
            </a:r>
            <a:endParaRPr lang="en-IN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857256"/>
          </a:xfrm>
        </p:spPr>
        <p:txBody>
          <a:bodyPr>
            <a:normAutofit/>
          </a:bodyPr>
          <a:lstStyle/>
          <a:p>
            <a:r>
              <a:rPr lang="en-IN" sz="3600" b="1" dirty="0"/>
              <a:t>Statement Interface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9678608"/>
              </p:ext>
            </p:extLst>
          </p:nvPr>
        </p:nvGraphicFramePr>
        <p:xfrm>
          <a:off x="179512" y="836712"/>
          <a:ext cx="8715436" cy="572216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4357718"/>
                <a:gridCol w="4357718"/>
              </a:tblGrid>
              <a:tr h="744816">
                <a:tc>
                  <a:txBody>
                    <a:bodyPr/>
                    <a:lstStyle/>
                    <a:p>
                      <a:pPr marL="190500" marR="107950" algn="ctr" defTabSz="914400" rtl="0" eaLnBrk="1" latinLnBrk="0" hangingPunct="1">
                        <a:lnSpc>
                          <a:spcPts val="1725"/>
                        </a:lnSpc>
                        <a:spcAft>
                          <a:spcPts val="0"/>
                        </a:spcAft>
                      </a:pPr>
                      <a:r>
                        <a:rPr lang="en-US" sz="2400" kern="1200" dirty="0" smtClean="0"/>
                        <a:t>Method</a:t>
                      </a:r>
                      <a:endParaRPr lang="en-IN" sz="2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190500" marR="107950" algn="ctr" defTabSz="914400" rtl="0" eaLnBrk="1" latinLnBrk="0" hangingPunct="1">
                        <a:lnSpc>
                          <a:spcPts val="1725"/>
                        </a:lnSpc>
                        <a:spcAft>
                          <a:spcPts val="0"/>
                        </a:spcAft>
                      </a:pPr>
                      <a:r>
                        <a:rPr lang="en-US" sz="2400" kern="1200" dirty="0" smtClean="0"/>
                        <a:t>Description</a:t>
                      </a:r>
                      <a:endParaRPr lang="en-IN" sz="24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</a:tr>
              <a:tr h="1042741">
                <a:tc>
                  <a:txBody>
                    <a:bodyPr/>
                    <a:lstStyle/>
                    <a:p>
                      <a:pPr marL="190500" marR="10795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2800" kern="1200" dirty="0" smtClean="0"/>
                        <a:t>public </a:t>
                      </a:r>
                      <a:r>
                        <a:rPr lang="en-IN" sz="2800" b="1" kern="1200" dirty="0" smtClean="0"/>
                        <a:t>ResultSet </a:t>
                      </a:r>
                      <a:r>
                        <a:rPr lang="en-IN" sz="2800" kern="1200" dirty="0" smtClean="0"/>
                        <a:t>executeQuery(String sql);</a:t>
                      </a:r>
                      <a:endParaRPr lang="en-IN" sz="2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190500" marR="10795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2400" b="0" kern="1200" dirty="0" smtClean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used to execute SELECT query. It returns the object of ResultSet.</a:t>
                      </a:r>
                      <a:endParaRPr lang="en-IN" sz="2400" b="0" kern="1200" dirty="0" smtClean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1163890">
                <a:tc>
                  <a:txBody>
                    <a:bodyPr/>
                    <a:lstStyle/>
                    <a:p>
                      <a:pPr marL="190500" marR="10795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2800" kern="1200" dirty="0" smtClean="0"/>
                        <a:t>public int executeUpdate(String sql);</a:t>
                      </a:r>
                      <a:endParaRPr lang="en-IN" sz="2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190500" marR="10795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2400" b="0" kern="1200" dirty="0" smtClean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used to execute specified query, it may be create, drop, insert, update, delete etc.</a:t>
                      </a:r>
                      <a:endParaRPr lang="en-IN" sz="2400" b="0" kern="1200" dirty="0" smtClean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1117223">
                <a:tc>
                  <a:txBody>
                    <a:bodyPr/>
                    <a:lstStyle/>
                    <a:p>
                      <a:pPr marL="190500" marR="10795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2800" kern="1200" dirty="0" smtClean="0"/>
                        <a:t>public boolean execute(String sql);</a:t>
                      </a:r>
                      <a:endParaRPr lang="en-IN" sz="2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190500" marR="10795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2400" b="0" kern="1200" dirty="0" smtClean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used to execute queries that may return multiple results.</a:t>
                      </a:r>
                      <a:endParaRPr lang="en-IN" sz="2400" b="0" kern="1200" dirty="0" smtClean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826745">
                <a:tc>
                  <a:txBody>
                    <a:bodyPr/>
                    <a:lstStyle/>
                    <a:p>
                      <a:pPr marL="190500" marR="10795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2800" kern="1200" dirty="0" smtClean="0"/>
                        <a:t>public int[] executeBatch();</a:t>
                      </a:r>
                      <a:endParaRPr lang="en-IN" sz="2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190500" marR="10795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2400" b="0" kern="1200" dirty="0" smtClean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used to execute batch of commands.</a:t>
                      </a:r>
                      <a:endParaRPr lang="en-IN" sz="2400" b="0" kern="1200" dirty="0" smtClean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826745">
                <a:tc>
                  <a:txBody>
                    <a:bodyPr/>
                    <a:lstStyle/>
                    <a:p>
                      <a:pPr marL="190500" marR="10795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2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void close()</a:t>
                      </a:r>
                      <a:endParaRPr lang="en-IN" sz="2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190500" marR="107950" algn="l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2400" b="0" kern="1200" dirty="0" smtClean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Close the statement object</a:t>
                      </a:r>
                      <a:endParaRPr lang="en-IN" sz="2400" b="0" kern="1200" dirty="0" smtClean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  <p:sp>
        <p:nvSpPr>
          <p:cNvPr id="38913" name="Rectangle 1"/>
          <p:cNvSpPr>
            <a:spLocks noChangeArrowheads="1"/>
          </p:cNvSpPr>
          <p:nvPr/>
        </p:nvSpPr>
        <p:spPr bwMode="auto">
          <a:xfrm>
            <a:off x="500034" y="109815"/>
            <a:ext cx="821537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610B4B"/>
                </a:solidFill>
                <a:effectLst/>
                <a:latin typeface="Helvetica" charset="0"/>
                <a:ea typeface="Times New Roman" pitchFamily="18" charset="0"/>
                <a:cs typeface="Times New Roman" pitchFamily="18" charset="0"/>
              </a:rPr>
              <a:t>Commonly used methods of Statement interface</a:t>
            </a:r>
            <a:endParaRPr kumimoji="0" lang="en-US" sz="105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1547"/>
            <a:ext cx="8435280" cy="4085646"/>
          </a:xfrm>
        </p:spPr>
        <p:txBody>
          <a:bodyPr>
            <a:normAutofit/>
          </a:bodyPr>
          <a:lstStyle/>
          <a:p>
            <a:r>
              <a:rPr lang="en-IN" dirty="0" smtClean="0"/>
              <a:t>A </a:t>
            </a:r>
            <a:r>
              <a:rPr lang="en-IN" dirty="0" err="1"/>
              <a:t>R</a:t>
            </a:r>
            <a:r>
              <a:rPr lang="en-IN" dirty="0" err="1" smtClean="0"/>
              <a:t>esultSet</a:t>
            </a:r>
            <a:r>
              <a:rPr lang="en-IN" dirty="0" smtClean="0"/>
              <a:t> object provides access to a table of data.</a:t>
            </a:r>
          </a:p>
          <a:p>
            <a:r>
              <a:rPr lang="en-IN" dirty="0" err="1" smtClean="0"/>
              <a:t>ResultSet</a:t>
            </a:r>
            <a:r>
              <a:rPr lang="en-IN" dirty="0" smtClean="0"/>
              <a:t> object is usually generated by executing  a statement.</a:t>
            </a:r>
            <a:endParaRPr lang="en-IN" dirty="0" smtClean="0"/>
          </a:p>
          <a:p>
            <a:r>
              <a:rPr lang="en-IN" dirty="0" smtClean="0"/>
              <a:t>The </a:t>
            </a:r>
            <a:r>
              <a:rPr lang="en-IN" dirty="0"/>
              <a:t>object of ResultSet maintains a cursor pointing to a particular row of data. </a:t>
            </a:r>
            <a:endParaRPr lang="en-IN" dirty="0" smtClean="0"/>
          </a:p>
          <a:p>
            <a:r>
              <a:rPr lang="en-IN" dirty="0" smtClean="0"/>
              <a:t>Initially</a:t>
            </a:r>
            <a:r>
              <a:rPr lang="en-IN" dirty="0"/>
              <a:t>, cursor points </a:t>
            </a:r>
            <a:r>
              <a:rPr lang="en-IN" dirty="0" smtClean="0"/>
              <a:t>before </a:t>
            </a:r>
            <a:r>
              <a:rPr lang="en-IN" dirty="0"/>
              <a:t>the first row</a:t>
            </a:r>
            <a:r>
              <a:rPr lang="en-IN" dirty="0" smtClean="0"/>
              <a:t>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857256"/>
          </a:xfrm>
        </p:spPr>
        <p:txBody>
          <a:bodyPr>
            <a:normAutofit/>
          </a:bodyPr>
          <a:lstStyle/>
          <a:p>
            <a:r>
              <a:rPr lang="en-IN" sz="3600" b="1" dirty="0" err="1"/>
              <a:t>ResultSet</a:t>
            </a:r>
            <a:r>
              <a:rPr lang="en-IN" sz="3600" b="1" dirty="0"/>
              <a:t> Interface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1239580"/>
              </p:ext>
            </p:extLst>
          </p:nvPr>
        </p:nvGraphicFramePr>
        <p:xfrm>
          <a:off x="0" y="642918"/>
          <a:ext cx="9144000" cy="6102204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4000496"/>
                <a:gridCol w="5143504"/>
              </a:tblGrid>
              <a:tr h="525519">
                <a:tc>
                  <a:txBody>
                    <a:bodyPr/>
                    <a:lstStyle/>
                    <a:p>
                      <a:pPr marL="190500" marR="107950" algn="ctr" defTabSz="914400" rtl="0" eaLnBrk="1" latinLnBrk="0" hangingPunct="1">
                        <a:lnSpc>
                          <a:spcPts val="1725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200" dirty="0" smtClean="0"/>
                        <a:t>Method</a:t>
                      </a:r>
                      <a:endParaRPr lang="en-IN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190500" marR="107950" algn="ctr" defTabSz="914400" rtl="0" eaLnBrk="1" latinLnBrk="0" hangingPunct="1">
                        <a:lnSpc>
                          <a:spcPts val="1725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200" dirty="0" smtClean="0"/>
                        <a:t>Description</a:t>
                      </a:r>
                      <a:endParaRPr lang="en-IN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</a:tr>
              <a:tr h="575039">
                <a:tc>
                  <a:txBody>
                    <a:bodyPr/>
                    <a:lstStyle/>
                    <a:p>
                      <a:pPr marL="190500" marR="10795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 smtClean="0"/>
                        <a:t>public </a:t>
                      </a:r>
                      <a:r>
                        <a:rPr lang="en-IN" sz="2000" dirty="0"/>
                        <a:t>boolean next</a:t>
                      </a:r>
                      <a:r>
                        <a:rPr lang="en-IN" sz="2000" dirty="0" smtClean="0"/>
                        <a:t>();</a:t>
                      </a:r>
                      <a:endParaRPr lang="en-IN" sz="2000" dirty="0"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35733" marR="35733" marT="35733" marB="35733"/>
                </a:tc>
                <a:tc>
                  <a:txBody>
                    <a:bodyPr/>
                    <a:lstStyle/>
                    <a:p>
                      <a:pPr marL="190500" marR="107950" algn="just">
                        <a:lnSpc>
                          <a:spcPts val="1725"/>
                        </a:lnSpc>
                        <a:spcAft>
                          <a:spcPts val="0"/>
                        </a:spcAft>
                      </a:pPr>
                      <a:r>
                        <a:rPr lang="en-IN" sz="1600" dirty="0"/>
                        <a:t>is used to move the cursor to the one row next from the current position.</a:t>
                      </a:r>
                      <a:endParaRPr lang="en-IN" sz="1600" dirty="0"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35733" marR="35733" marT="35733" marB="35733"/>
                </a:tc>
              </a:tr>
              <a:tr h="575039">
                <a:tc>
                  <a:txBody>
                    <a:bodyPr/>
                    <a:lstStyle/>
                    <a:p>
                      <a:pPr marL="190500" marR="10795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 smtClean="0"/>
                        <a:t>public </a:t>
                      </a:r>
                      <a:r>
                        <a:rPr lang="en-IN" sz="2000" dirty="0"/>
                        <a:t>boolean previous</a:t>
                      </a:r>
                      <a:r>
                        <a:rPr lang="en-IN" sz="2000" dirty="0" smtClean="0"/>
                        <a:t>();</a:t>
                      </a:r>
                      <a:endParaRPr lang="en-IN" sz="2000" dirty="0"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35733" marR="35733" marT="35733" marB="35733"/>
                </a:tc>
                <a:tc>
                  <a:txBody>
                    <a:bodyPr/>
                    <a:lstStyle/>
                    <a:p>
                      <a:pPr marL="190500" marR="107950" algn="just">
                        <a:lnSpc>
                          <a:spcPts val="1725"/>
                        </a:lnSpc>
                        <a:spcAft>
                          <a:spcPts val="0"/>
                        </a:spcAft>
                      </a:pPr>
                      <a:r>
                        <a:rPr lang="en-IN" sz="1600" dirty="0"/>
                        <a:t>is used to move the cursor to the one row previous from the current position.</a:t>
                      </a:r>
                      <a:endParaRPr lang="en-IN" sz="1600" dirty="0"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35733" marR="35733" marT="35733" marB="35733"/>
                </a:tc>
              </a:tr>
              <a:tr h="575039">
                <a:tc>
                  <a:txBody>
                    <a:bodyPr/>
                    <a:lstStyle/>
                    <a:p>
                      <a:pPr marL="190500" marR="10795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 smtClean="0"/>
                        <a:t>public </a:t>
                      </a:r>
                      <a:r>
                        <a:rPr lang="en-IN" sz="2000" dirty="0"/>
                        <a:t>boolean first</a:t>
                      </a:r>
                      <a:r>
                        <a:rPr lang="en-IN" sz="2000" dirty="0" smtClean="0"/>
                        <a:t>();</a:t>
                      </a:r>
                      <a:endParaRPr lang="en-IN" sz="2000" dirty="0"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35733" marR="35733" marT="35733" marB="35733"/>
                </a:tc>
                <a:tc>
                  <a:txBody>
                    <a:bodyPr/>
                    <a:lstStyle/>
                    <a:p>
                      <a:pPr marL="190500" marR="107950" algn="just">
                        <a:lnSpc>
                          <a:spcPts val="1725"/>
                        </a:lnSpc>
                        <a:spcAft>
                          <a:spcPts val="0"/>
                        </a:spcAft>
                      </a:pPr>
                      <a:r>
                        <a:rPr lang="en-IN" sz="1600" dirty="0"/>
                        <a:t>is used to move the cursor to the first row in result set object.</a:t>
                      </a:r>
                      <a:endParaRPr lang="en-IN" sz="1600" dirty="0"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35733" marR="35733" marT="35733" marB="35733"/>
                </a:tc>
              </a:tr>
              <a:tr h="575039">
                <a:tc>
                  <a:txBody>
                    <a:bodyPr/>
                    <a:lstStyle/>
                    <a:p>
                      <a:pPr marL="190500" marR="10795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 smtClean="0"/>
                        <a:t>public </a:t>
                      </a:r>
                      <a:r>
                        <a:rPr lang="en-IN" sz="2000" dirty="0"/>
                        <a:t>boolean last</a:t>
                      </a:r>
                      <a:r>
                        <a:rPr lang="en-IN" sz="2000" dirty="0" smtClean="0"/>
                        <a:t>();</a:t>
                      </a:r>
                      <a:endParaRPr lang="en-IN" sz="2000" dirty="0"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35733" marR="35733" marT="35733" marB="35733"/>
                </a:tc>
                <a:tc>
                  <a:txBody>
                    <a:bodyPr/>
                    <a:lstStyle/>
                    <a:p>
                      <a:pPr marL="190500" marR="107950" algn="just">
                        <a:lnSpc>
                          <a:spcPts val="1725"/>
                        </a:lnSpc>
                        <a:spcAft>
                          <a:spcPts val="0"/>
                        </a:spcAft>
                      </a:pPr>
                      <a:r>
                        <a:rPr lang="en-IN" sz="1600" dirty="0"/>
                        <a:t>is used to move the cursor to the last row in result set object.</a:t>
                      </a:r>
                      <a:endParaRPr lang="en-IN" sz="1600" dirty="0"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35733" marR="35733" marT="35733" marB="35733"/>
                </a:tc>
              </a:tr>
              <a:tr h="607525">
                <a:tc>
                  <a:txBody>
                    <a:bodyPr/>
                    <a:lstStyle/>
                    <a:p>
                      <a:pPr marL="190500" marR="10795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 smtClean="0"/>
                        <a:t>public </a:t>
                      </a:r>
                      <a:r>
                        <a:rPr lang="en-IN" sz="2000" dirty="0"/>
                        <a:t>boolean absolute(int row</a:t>
                      </a:r>
                      <a:r>
                        <a:rPr lang="en-IN" sz="2000" dirty="0" smtClean="0"/>
                        <a:t>);</a:t>
                      </a:r>
                      <a:endParaRPr lang="en-IN" sz="2000" dirty="0"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35733" marR="35733" marT="35733" marB="35733"/>
                </a:tc>
                <a:tc>
                  <a:txBody>
                    <a:bodyPr/>
                    <a:lstStyle/>
                    <a:p>
                      <a:pPr marL="190500" marR="107950" algn="just">
                        <a:lnSpc>
                          <a:spcPts val="1725"/>
                        </a:lnSpc>
                        <a:spcAft>
                          <a:spcPts val="0"/>
                        </a:spcAft>
                      </a:pPr>
                      <a:r>
                        <a:rPr lang="en-IN" sz="1600" dirty="0"/>
                        <a:t>is used to move the cursor to the specified row number in the ResultSet object.</a:t>
                      </a:r>
                      <a:endParaRPr lang="en-IN" sz="1600" dirty="0"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35733" marR="35733" marT="35733" marB="35733"/>
                </a:tc>
              </a:tr>
              <a:tr h="575039">
                <a:tc>
                  <a:txBody>
                    <a:bodyPr/>
                    <a:lstStyle/>
                    <a:p>
                      <a:pPr marL="190500" marR="10795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 smtClean="0"/>
                        <a:t>public </a:t>
                      </a:r>
                      <a:r>
                        <a:rPr lang="en-IN" sz="2000" dirty="0"/>
                        <a:t>int getInt(int columnIndex</a:t>
                      </a:r>
                      <a:r>
                        <a:rPr lang="en-IN" sz="2000" dirty="0" smtClean="0"/>
                        <a:t>);</a:t>
                      </a:r>
                      <a:endParaRPr lang="en-IN" sz="2000" dirty="0"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35733" marR="35733" marT="35733" marB="35733"/>
                </a:tc>
                <a:tc>
                  <a:txBody>
                    <a:bodyPr/>
                    <a:lstStyle/>
                    <a:p>
                      <a:pPr marL="190500" marR="107950" algn="just">
                        <a:lnSpc>
                          <a:spcPts val="1725"/>
                        </a:lnSpc>
                        <a:spcAft>
                          <a:spcPts val="0"/>
                        </a:spcAft>
                      </a:pPr>
                      <a:r>
                        <a:rPr lang="en-IN" sz="1600" dirty="0"/>
                        <a:t>is used to return the data of specified column index of the current row as int.</a:t>
                      </a:r>
                      <a:endParaRPr lang="en-IN" sz="1600" dirty="0"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35733" marR="35733" marT="35733" marB="35733"/>
                </a:tc>
              </a:tr>
              <a:tr h="575039">
                <a:tc>
                  <a:txBody>
                    <a:bodyPr/>
                    <a:lstStyle/>
                    <a:p>
                      <a:pPr marL="190500" marR="10795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 smtClean="0"/>
                        <a:t>public </a:t>
                      </a:r>
                      <a:r>
                        <a:rPr lang="en-IN" sz="2000" dirty="0"/>
                        <a:t>int getInt(String columnName</a:t>
                      </a:r>
                      <a:r>
                        <a:rPr lang="en-IN" sz="2000" dirty="0" smtClean="0"/>
                        <a:t>);</a:t>
                      </a:r>
                      <a:endParaRPr lang="en-IN" sz="2000" dirty="0"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35733" marR="35733" marT="35733" marB="35733"/>
                </a:tc>
                <a:tc>
                  <a:txBody>
                    <a:bodyPr/>
                    <a:lstStyle/>
                    <a:p>
                      <a:pPr marL="190500" marR="107950" algn="just">
                        <a:lnSpc>
                          <a:spcPts val="1725"/>
                        </a:lnSpc>
                        <a:spcAft>
                          <a:spcPts val="0"/>
                        </a:spcAft>
                      </a:pPr>
                      <a:r>
                        <a:rPr lang="en-IN" sz="1600" dirty="0"/>
                        <a:t>is used to return the data of specified column name of the current row as int.</a:t>
                      </a:r>
                      <a:endParaRPr lang="en-IN" sz="1600" dirty="0"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35733" marR="35733" marT="35733" marB="35733"/>
                </a:tc>
              </a:tr>
              <a:tr h="639322">
                <a:tc>
                  <a:txBody>
                    <a:bodyPr/>
                    <a:lstStyle/>
                    <a:p>
                      <a:pPr marL="190500" marR="10795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 smtClean="0"/>
                        <a:t>public </a:t>
                      </a:r>
                      <a:r>
                        <a:rPr lang="en-IN" sz="2000" dirty="0"/>
                        <a:t>String getString(int columnIndex</a:t>
                      </a:r>
                      <a:r>
                        <a:rPr lang="en-IN" sz="2000" dirty="0" smtClean="0"/>
                        <a:t>);</a:t>
                      </a:r>
                      <a:endParaRPr lang="en-IN" sz="2000" dirty="0"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35733" marR="35733" marT="35733" marB="35733"/>
                </a:tc>
                <a:tc>
                  <a:txBody>
                    <a:bodyPr/>
                    <a:lstStyle/>
                    <a:p>
                      <a:pPr marL="190500" marR="107950" algn="just">
                        <a:lnSpc>
                          <a:spcPts val="1725"/>
                        </a:lnSpc>
                        <a:spcAft>
                          <a:spcPts val="0"/>
                        </a:spcAft>
                      </a:pPr>
                      <a:r>
                        <a:rPr lang="en-IN" sz="1600" dirty="0"/>
                        <a:t>is used to return the data of specified column index of the current row as String.</a:t>
                      </a:r>
                      <a:endParaRPr lang="en-IN" sz="1600" dirty="0"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35733" marR="35733" marT="35733" marB="35733"/>
                </a:tc>
              </a:tr>
              <a:tr h="731833">
                <a:tc>
                  <a:txBody>
                    <a:bodyPr/>
                    <a:lstStyle/>
                    <a:p>
                      <a:pPr marL="190500" marR="10795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 smtClean="0"/>
                        <a:t>public </a:t>
                      </a:r>
                      <a:r>
                        <a:rPr lang="en-IN" sz="2000" dirty="0"/>
                        <a:t>String getString(String columnName</a:t>
                      </a:r>
                      <a:r>
                        <a:rPr lang="en-IN" sz="2000" dirty="0" smtClean="0"/>
                        <a:t>);</a:t>
                      </a:r>
                      <a:endParaRPr lang="en-IN" sz="2000" dirty="0"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35733" marR="35733" marT="35733" marB="35733"/>
                </a:tc>
                <a:tc>
                  <a:txBody>
                    <a:bodyPr/>
                    <a:lstStyle/>
                    <a:p>
                      <a:pPr marL="190500" marR="107950" algn="just">
                        <a:lnSpc>
                          <a:spcPts val="1725"/>
                        </a:lnSpc>
                        <a:spcAft>
                          <a:spcPts val="0"/>
                        </a:spcAft>
                      </a:pPr>
                      <a:r>
                        <a:rPr lang="en-IN" sz="1600" dirty="0"/>
                        <a:t>is used to return the data of specified column name of the current row as String.</a:t>
                      </a:r>
                      <a:endParaRPr lang="en-IN" sz="1600" dirty="0"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35733" marR="35733" marT="35733" marB="35733"/>
                </a:tc>
              </a:tr>
            </a:tbl>
          </a:graphicData>
        </a:graphic>
      </p:graphicFrame>
      <p:sp>
        <p:nvSpPr>
          <p:cNvPr id="40961" name="Rectangle 1"/>
          <p:cNvSpPr>
            <a:spLocks noChangeArrowheads="1"/>
          </p:cNvSpPr>
          <p:nvPr/>
        </p:nvSpPr>
        <p:spPr bwMode="auto">
          <a:xfrm>
            <a:off x="500034" y="-24"/>
            <a:ext cx="8215370" cy="52322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610B4B"/>
                </a:solidFill>
                <a:effectLst/>
                <a:latin typeface="Helvetica" charset="0"/>
                <a:ea typeface="Times New Roman" pitchFamily="18" charset="0"/>
                <a:cs typeface="Arial" pitchFamily="34" charset="0"/>
              </a:rPr>
              <a:t>Commonly used methods of 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610B4B"/>
                </a:solidFill>
                <a:effectLst/>
                <a:latin typeface="Helvetica" charset="0"/>
                <a:ea typeface="Times New Roman" pitchFamily="18" charset="0"/>
                <a:cs typeface="Arial" pitchFamily="34" charset="0"/>
              </a:rPr>
              <a:t>ResultSet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610B4B"/>
                </a:solidFill>
                <a:effectLst/>
                <a:latin typeface="Helvetica" charset="0"/>
                <a:ea typeface="Times New Roman" pitchFamily="18" charset="0"/>
                <a:cs typeface="Arial" pitchFamily="34" charset="0"/>
              </a:rPr>
              <a:t> interface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785818"/>
          </a:xfrm>
        </p:spPr>
        <p:txBody>
          <a:bodyPr/>
          <a:lstStyle/>
          <a:p>
            <a:r>
              <a:rPr lang="en-IN" dirty="0"/>
              <a:t>Connecting to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0108"/>
            <a:ext cx="8507288" cy="5126055"/>
          </a:xfrm>
        </p:spPr>
        <p:txBody>
          <a:bodyPr/>
          <a:lstStyle/>
          <a:p>
            <a:r>
              <a:rPr lang="en-IN" dirty="0"/>
              <a:t>There are 5 steps to connect any java application with the database in java using JDBC. They are as follows</a:t>
            </a:r>
            <a:r>
              <a:rPr lang="en-IN" dirty="0" smtClean="0"/>
              <a:t>:</a:t>
            </a:r>
          </a:p>
          <a:p>
            <a:pPr marL="1371600" lvl="2" indent="-514350">
              <a:buFont typeface="+mj-lt"/>
              <a:buAutoNum type="arabicPeriod"/>
            </a:pPr>
            <a:r>
              <a:rPr lang="en-IN" sz="2800" dirty="0" smtClean="0"/>
              <a:t>Register </a:t>
            </a:r>
            <a:r>
              <a:rPr lang="en-IN" sz="2800" dirty="0"/>
              <a:t>the driver class</a:t>
            </a:r>
          </a:p>
          <a:p>
            <a:pPr marL="1371600" lvl="2" indent="-514350">
              <a:buFont typeface="+mj-lt"/>
              <a:buAutoNum type="arabicPeriod"/>
            </a:pPr>
            <a:r>
              <a:rPr lang="en-IN" sz="2800" dirty="0"/>
              <a:t>Creating connection</a:t>
            </a:r>
          </a:p>
          <a:p>
            <a:pPr marL="1371600" lvl="2" indent="-514350">
              <a:buFont typeface="+mj-lt"/>
              <a:buAutoNum type="arabicPeriod"/>
            </a:pPr>
            <a:r>
              <a:rPr lang="en-IN" sz="2800" dirty="0"/>
              <a:t>Creating statement</a:t>
            </a:r>
          </a:p>
          <a:p>
            <a:pPr marL="1371600" lvl="2" indent="-514350">
              <a:buFont typeface="+mj-lt"/>
              <a:buAutoNum type="arabicPeriod"/>
            </a:pPr>
            <a:r>
              <a:rPr lang="en-IN" sz="2800" dirty="0"/>
              <a:t>Executing queries</a:t>
            </a:r>
          </a:p>
          <a:p>
            <a:pPr marL="1371600" lvl="2" indent="-514350">
              <a:buFont typeface="+mj-lt"/>
              <a:buAutoNum type="arabicPeriod"/>
            </a:pPr>
            <a:r>
              <a:rPr lang="en-IN" sz="2800" dirty="0"/>
              <a:t>Closing connection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1.Register the driver class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417638"/>
            <a:ext cx="8929718" cy="4708525"/>
          </a:xfrm>
        </p:spPr>
        <p:txBody>
          <a:bodyPr>
            <a:normAutofit fontScale="92500" lnSpcReduction="20000"/>
          </a:bodyPr>
          <a:lstStyle/>
          <a:p>
            <a:r>
              <a:rPr lang="en-IN" dirty="0" smtClean="0"/>
              <a:t>The </a:t>
            </a:r>
            <a:r>
              <a:rPr lang="en-IN" b="1" dirty="0" err="1" smtClean="0"/>
              <a:t>Class.forName</a:t>
            </a:r>
            <a:r>
              <a:rPr lang="en-IN" b="1" dirty="0"/>
              <a:t>()</a:t>
            </a:r>
            <a:r>
              <a:rPr lang="en-IN" dirty="0"/>
              <a:t> method </a:t>
            </a:r>
            <a:r>
              <a:rPr lang="en-IN" dirty="0" smtClean="0"/>
              <a:t>is </a:t>
            </a:r>
            <a:r>
              <a:rPr lang="en-IN" dirty="0"/>
              <a:t>used to register the driver class. This method is used to dynamically load the driver class</a:t>
            </a:r>
            <a:r>
              <a:rPr lang="en-IN" dirty="0" smtClean="0"/>
              <a:t>.</a:t>
            </a:r>
          </a:p>
          <a:p>
            <a:pPr>
              <a:buNone/>
            </a:pPr>
            <a:endParaRPr lang="en-IN" dirty="0"/>
          </a:p>
          <a:p>
            <a:r>
              <a:rPr lang="en-IN" sz="3000" b="1" dirty="0"/>
              <a:t>Syntax of </a:t>
            </a:r>
            <a:r>
              <a:rPr lang="en-IN" sz="3000" b="1" dirty="0" err="1"/>
              <a:t>forName</a:t>
            </a:r>
            <a:r>
              <a:rPr lang="en-IN" sz="3000" b="1" dirty="0"/>
              <a:t>() </a:t>
            </a:r>
            <a:r>
              <a:rPr lang="en-IN" sz="3000" b="1" dirty="0" smtClean="0"/>
              <a:t>method</a:t>
            </a:r>
          </a:p>
          <a:p>
            <a:pPr lvl="0">
              <a:buNone/>
            </a:pPr>
            <a:endParaRPr lang="en-IN" sz="2200" dirty="0" smtClean="0"/>
          </a:p>
          <a:p>
            <a:pPr lvl="0">
              <a:buNone/>
            </a:pPr>
            <a:r>
              <a:rPr lang="en-IN" sz="2200" dirty="0" smtClean="0"/>
              <a:t>public</a:t>
            </a:r>
            <a:r>
              <a:rPr lang="en-IN" sz="2200" dirty="0"/>
              <a:t> static void </a:t>
            </a:r>
            <a:r>
              <a:rPr lang="en-IN" sz="2200" dirty="0" err="1"/>
              <a:t>forName</a:t>
            </a:r>
            <a:r>
              <a:rPr lang="en-IN" sz="2200" dirty="0"/>
              <a:t>(String </a:t>
            </a:r>
            <a:r>
              <a:rPr lang="en-IN" sz="2200" dirty="0" err="1"/>
              <a:t>className</a:t>
            </a:r>
            <a:r>
              <a:rPr lang="en-IN" sz="2200" dirty="0"/>
              <a:t>)throws </a:t>
            </a:r>
            <a:r>
              <a:rPr lang="en-IN" sz="2200" dirty="0" err="1" smtClean="0"/>
              <a:t>ClassNotFoundException</a:t>
            </a:r>
            <a:endParaRPr lang="en-IN" sz="2200" dirty="0" smtClean="0"/>
          </a:p>
          <a:p>
            <a:pPr lvl="0">
              <a:buNone/>
            </a:pPr>
            <a:endParaRPr lang="en-IN" dirty="0"/>
          </a:p>
          <a:p>
            <a:r>
              <a:rPr lang="en-IN" sz="3000" b="1" dirty="0"/>
              <a:t>Example to register with JDBC-ODBC </a:t>
            </a:r>
            <a:r>
              <a:rPr lang="en-IN" sz="3000" b="1" dirty="0" smtClean="0"/>
              <a:t>Driver</a:t>
            </a:r>
          </a:p>
          <a:p>
            <a:pPr>
              <a:buNone/>
            </a:pPr>
            <a:endParaRPr lang="en-IN" sz="1900" dirty="0"/>
          </a:p>
          <a:p>
            <a:pPr>
              <a:buNone/>
            </a:pPr>
            <a:r>
              <a:rPr lang="en-IN" dirty="0" smtClean="0"/>
              <a:t>		</a:t>
            </a:r>
            <a:r>
              <a:rPr lang="en-IN" sz="2600" dirty="0" err="1" smtClean="0"/>
              <a:t>Class.forName</a:t>
            </a:r>
            <a:r>
              <a:rPr lang="en-IN" sz="2600" dirty="0" smtClean="0"/>
              <a:t>("</a:t>
            </a:r>
            <a:r>
              <a:rPr lang="en-IN" sz="2600" dirty="0" err="1" smtClean="0"/>
              <a:t>sun.jdbc.odbc.JdbcOdbcDriver</a:t>
            </a:r>
            <a:r>
              <a:rPr lang="en-IN" sz="2600" dirty="0" smtClean="0"/>
              <a:t>");</a:t>
            </a:r>
            <a:r>
              <a:rPr lang="en-IN" sz="2600" dirty="0"/>
              <a:t>  </a:t>
            </a:r>
            <a:endParaRPr lang="en-IN" dirty="0"/>
          </a:p>
          <a:p>
            <a:pPr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000132"/>
          </a:xfrm>
        </p:spPr>
        <p:txBody>
          <a:bodyPr>
            <a:normAutofit/>
          </a:bodyPr>
          <a:lstStyle/>
          <a:p>
            <a:pPr lvl="2" algn="ctr" rtl="0">
              <a:spcBef>
                <a:spcPct val="0"/>
              </a:spcBef>
            </a:pPr>
            <a:r>
              <a:rPr lang="en-IN" sz="3600" dirty="0" smtClean="0"/>
              <a:t>2. Creating connection</a:t>
            </a:r>
            <a:endParaRPr lang="en-IN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2984"/>
            <a:ext cx="9144000" cy="5500726"/>
          </a:xfrm>
        </p:spPr>
        <p:txBody>
          <a:bodyPr>
            <a:normAutofit/>
          </a:bodyPr>
          <a:lstStyle/>
          <a:p>
            <a:r>
              <a:rPr lang="en-IN" dirty="0"/>
              <a:t>The </a:t>
            </a:r>
            <a:r>
              <a:rPr lang="en-IN" dirty="0" err="1" smtClean="0"/>
              <a:t>DriverManager.getConnection</a:t>
            </a:r>
            <a:r>
              <a:rPr lang="en-IN" dirty="0"/>
              <a:t>() </a:t>
            </a:r>
            <a:r>
              <a:rPr lang="en-IN" dirty="0" smtClean="0"/>
              <a:t>method </a:t>
            </a:r>
            <a:r>
              <a:rPr lang="en-IN" dirty="0"/>
              <a:t>is used to establish connection with the database.</a:t>
            </a:r>
          </a:p>
          <a:p>
            <a:endParaRPr lang="en-IN" sz="2400" b="1" dirty="0" smtClean="0"/>
          </a:p>
          <a:p>
            <a:r>
              <a:rPr lang="en-IN" sz="3000" b="1" dirty="0" smtClean="0"/>
              <a:t>Example </a:t>
            </a:r>
            <a:r>
              <a:rPr lang="en-IN" sz="3000" b="1" dirty="0"/>
              <a:t>establish connection with Oracle Driver</a:t>
            </a:r>
            <a:endParaRPr lang="en-IN" sz="3000" dirty="0"/>
          </a:p>
          <a:p>
            <a:pPr>
              <a:buNone/>
            </a:pPr>
            <a:r>
              <a:rPr lang="en-IN" sz="2400" dirty="0" smtClean="0"/>
              <a:t>	Connection con = </a:t>
            </a:r>
            <a:r>
              <a:rPr lang="en-IN" sz="2400" dirty="0" err="1" smtClean="0"/>
              <a:t>DriverManager.getConnection</a:t>
            </a:r>
            <a:r>
              <a:rPr lang="en-IN" sz="2400" dirty="0" smtClean="0"/>
              <a:t> ("</a:t>
            </a:r>
            <a:r>
              <a:rPr lang="en-IN" sz="2400" dirty="0" err="1" smtClean="0"/>
              <a:t>jdbc:odbc:DemoDB","username","password</a:t>
            </a:r>
            <a:r>
              <a:rPr lang="en-IN" sz="2400" dirty="0" smtClean="0"/>
              <a:t>");</a:t>
            </a:r>
            <a:endParaRPr lang="en-IN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928694"/>
          </a:xfrm>
        </p:spPr>
        <p:txBody>
          <a:bodyPr>
            <a:normAutofit/>
          </a:bodyPr>
          <a:lstStyle/>
          <a:p>
            <a:pPr lvl="2" algn="ctr" rtl="0">
              <a:spcBef>
                <a:spcPct val="0"/>
              </a:spcBef>
            </a:pPr>
            <a:r>
              <a:rPr lang="en-IN" sz="3600" dirty="0" smtClean="0"/>
              <a:t>3. Creating statement</a:t>
            </a:r>
            <a:endParaRPr lang="en-IN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214422"/>
            <a:ext cx="8712968" cy="5286412"/>
          </a:xfrm>
        </p:spPr>
        <p:txBody>
          <a:bodyPr>
            <a:normAutofit/>
          </a:bodyPr>
          <a:lstStyle/>
          <a:p>
            <a:r>
              <a:rPr lang="en-IN" sz="2800" dirty="0"/>
              <a:t>The </a:t>
            </a:r>
            <a:r>
              <a:rPr lang="en-IN" sz="2800" dirty="0" err="1"/>
              <a:t>createStatement</a:t>
            </a:r>
            <a:r>
              <a:rPr lang="en-IN" sz="2800" dirty="0"/>
              <a:t>() method of Connection interface is used to create </a:t>
            </a:r>
            <a:r>
              <a:rPr lang="en-IN" sz="2800" dirty="0" smtClean="0"/>
              <a:t>statement. The </a:t>
            </a:r>
            <a:r>
              <a:rPr lang="en-IN" sz="2800" dirty="0"/>
              <a:t>object of statement is responsible to execute queries with the database.</a:t>
            </a:r>
          </a:p>
          <a:p>
            <a:pPr lvl="0">
              <a:buNone/>
            </a:pPr>
            <a:r>
              <a:rPr lang="en-IN" sz="1600" dirty="0"/>
              <a:t> </a:t>
            </a:r>
          </a:p>
          <a:p>
            <a:r>
              <a:rPr lang="en-IN" b="1" dirty="0"/>
              <a:t>Example to create the statement object</a:t>
            </a:r>
          </a:p>
          <a:p>
            <a:pPr>
              <a:buNone/>
            </a:pPr>
            <a:r>
              <a:rPr lang="en-IN" dirty="0" smtClean="0"/>
              <a:t>		Statement</a:t>
            </a:r>
            <a:r>
              <a:rPr lang="en-IN" dirty="0"/>
              <a:t> stmt=</a:t>
            </a:r>
            <a:r>
              <a:rPr lang="en-IN" dirty="0" err="1"/>
              <a:t>con.createStatement</a:t>
            </a:r>
            <a:r>
              <a:rPr lang="en-IN" dirty="0"/>
              <a:t>();  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000132"/>
          </a:xfrm>
        </p:spPr>
        <p:txBody>
          <a:bodyPr>
            <a:normAutofit/>
          </a:bodyPr>
          <a:lstStyle/>
          <a:p>
            <a:pPr lvl="2" algn="ctr" rtl="0">
              <a:spcBef>
                <a:spcPct val="0"/>
              </a:spcBef>
            </a:pPr>
            <a:r>
              <a:rPr lang="en-IN" sz="3600" dirty="0" smtClean="0"/>
              <a:t>4. Executing queries</a:t>
            </a:r>
            <a:endParaRPr lang="en-IN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071546"/>
            <a:ext cx="8856984" cy="5786454"/>
          </a:xfrm>
        </p:spPr>
        <p:txBody>
          <a:bodyPr>
            <a:normAutofit fontScale="85000" lnSpcReduction="10000"/>
          </a:bodyPr>
          <a:lstStyle/>
          <a:p>
            <a:r>
              <a:rPr lang="en-IN" dirty="0"/>
              <a:t>The executeQuery() method of Statement interface is used to execute queries to the database. </a:t>
            </a:r>
            <a:endParaRPr lang="en-IN" dirty="0" smtClean="0"/>
          </a:p>
          <a:p>
            <a:r>
              <a:rPr lang="en-IN" dirty="0" smtClean="0"/>
              <a:t>This </a:t>
            </a:r>
            <a:r>
              <a:rPr lang="en-IN" dirty="0"/>
              <a:t>method returns the object of ResultSet that can be used to get all the records of a table</a:t>
            </a:r>
            <a:r>
              <a:rPr lang="en-IN" dirty="0" smtClean="0"/>
              <a:t>.</a:t>
            </a:r>
          </a:p>
          <a:p>
            <a:pPr lvl="0">
              <a:buNone/>
            </a:pPr>
            <a:endParaRPr lang="en-IN" sz="3100" dirty="0"/>
          </a:p>
          <a:p>
            <a:r>
              <a:rPr lang="en-IN" b="1" dirty="0"/>
              <a:t>Example to execute </a:t>
            </a:r>
            <a:r>
              <a:rPr lang="en-IN" b="1" dirty="0" smtClean="0"/>
              <a:t>query</a:t>
            </a:r>
          </a:p>
          <a:p>
            <a:endParaRPr lang="en-IN" sz="1500" b="1" dirty="0"/>
          </a:p>
          <a:p>
            <a:pPr lvl="0">
              <a:buNone/>
            </a:pPr>
            <a:r>
              <a:rPr lang="en-IN" dirty="0" smtClean="0"/>
              <a:t>	ResultSet</a:t>
            </a:r>
            <a:r>
              <a:rPr lang="en-IN" dirty="0"/>
              <a:t> </a:t>
            </a:r>
            <a:r>
              <a:rPr lang="en-IN" dirty="0" err="1"/>
              <a:t>rs</a:t>
            </a:r>
            <a:r>
              <a:rPr lang="en-IN" dirty="0"/>
              <a:t>=</a:t>
            </a:r>
            <a:r>
              <a:rPr lang="en-IN" dirty="0" err="1"/>
              <a:t>stmt.executeQuery</a:t>
            </a:r>
            <a:r>
              <a:rPr lang="en-IN" dirty="0"/>
              <a:t>("select * from </a:t>
            </a:r>
            <a:r>
              <a:rPr lang="en-IN" dirty="0" err="1"/>
              <a:t>emp</a:t>
            </a:r>
            <a:r>
              <a:rPr lang="en-IN" dirty="0"/>
              <a:t>");  </a:t>
            </a:r>
          </a:p>
          <a:p>
            <a:pPr lvl="0">
              <a:buNone/>
            </a:pPr>
            <a:r>
              <a:rPr lang="en-IN" b="1" dirty="0" smtClean="0"/>
              <a:t>	while</a:t>
            </a:r>
            <a:r>
              <a:rPr lang="en-IN" dirty="0" smtClean="0"/>
              <a:t>(</a:t>
            </a:r>
            <a:r>
              <a:rPr lang="en-IN" dirty="0" err="1" smtClean="0"/>
              <a:t>rs.next</a:t>
            </a:r>
            <a:r>
              <a:rPr lang="en-IN" dirty="0" smtClean="0"/>
              <a:t>())</a:t>
            </a:r>
          </a:p>
          <a:p>
            <a:pPr lvl="0">
              <a:buNone/>
            </a:pPr>
            <a:r>
              <a:rPr lang="en-IN" dirty="0"/>
              <a:t> </a:t>
            </a:r>
            <a:r>
              <a:rPr lang="en-IN" dirty="0" smtClean="0"/>
              <a:t>    {</a:t>
            </a:r>
            <a:r>
              <a:rPr lang="en-IN" dirty="0"/>
              <a:t>  </a:t>
            </a:r>
          </a:p>
          <a:p>
            <a:pPr lvl="0">
              <a:buNone/>
            </a:pPr>
            <a:r>
              <a:rPr lang="en-IN" dirty="0" smtClean="0"/>
              <a:t>		</a:t>
            </a:r>
            <a:r>
              <a:rPr lang="en-IN" dirty="0" err="1" smtClean="0"/>
              <a:t>System.out.println</a:t>
            </a:r>
            <a:r>
              <a:rPr lang="en-IN" dirty="0" smtClean="0"/>
              <a:t>(</a:t>
            </a:r>
            <a:r>
              <a:rPr lang="en-IN" dirty="0" err="1" smtClean="0"/>
              <a:t>rs.getInt</a:t>
            </a:r>
            <a:r>
              <a:rPr lang="en-IN" dirty="0" smtClean="0"/>
              <a:t>(1</a:t>
            </a:r>
            <a:r>
              <a:rPr lang="en-IN" dirty="0"/>
              <a:t>)+" "+</a:t>
            </a:r>
            <a:r>
              <a:rPr lang="en-IN" dirty="0" err="1"/>
              <a:t>rs.getString</a:t>
            </a:r>
            <a:r>
              <a:rPr lang="en-IN" dirty="0"/>
              <a:t>(2));  </a:t>
            </a:r>
          </a:p>
          <a:p>
            <a:pPr lvl="0">
              <a:buNone/>
            </a:pPr>
            <a:r>
              <a:rPr lang="en-IN" dirty="0" smtClean="0"/>
              <a:t>	}</a:t>
            </a:r>
            <a:r>
              <a:rPr lang="en-IN" dirty="0"/>
              <a:t>  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928670"/>
          </a:xfrm>
        </p:spPr>
        <p:txBody>
          <a:bodyPr>
            <a:normAutofit/>
          </a:bodyPr>
          <a:lstStyle/>
          <a:p>
            <a:pPr lvl="2" algn="ctr" rtl="0">
              <a:spcBef>
                <a:spcPct val="0"/>
              </a:spcBef>
            </a:pPr>
            <a:r>
              <a:rPr lang="en-IN" sz="3600" dirty="0" smtClean="0"/>
              <a:t>5. Closing connection</a:t>
            </a:r>
            <a:endParaRPr lang="en-IN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0465"/>
            <a:ext cx="8229600" cy="5054617"/>
          </a:xfrm>
        </p:spPr>
        <p:txBody>
          <a:bodyPr>
            <a:normAutofit/>
          </a:bodyPr>
          <a:lstStyle/>
          <a:p>
            <a:r>
              <a:rPr lang="en-IN" sz="2800" dirty="0"/>
              <a:t>By closing connection object statement and ResultSet will be closed automatically. </a:t>
            </a:r>
            <a:endParaRPr lang="en-IN" sz="2800" dirty="0" smtClean="0"/>
          </a:p>
          <a:p>
            <a:r>
              <a:rPr lang="en-IN" sz="2800" dirty="0" smtClean="0"/>
              <a:t>The </a:t>
            </a:r>
            <a:r>
              <a:rPr lang="en-IN" sz="2800" dirty="0"/>
              <a:t>close() method of Connection interface is used to close the connection</a:t>
            </a:r>
            <a:r>
              <a:rPr lang="en-IN" sz="2800" dirty="0" smtClean="0"/>
              <a:t>.</a:t>
            </a:r>
          </a:p>
          <a:p>
            <a:endParaRPr lang="en-IN" sz="1800" dirty="0"/>
          </a:p>
          <a:p>
            <a:pPr lvl="0">
              <a:buNone/>
            </a:pPr>
            <a:endParaRPr lang="en-IN" sz="1800" dirty="0"/>
          </a:p>
          <a:p>
            <a:r>
              <a:rPr lang="en-IN" b="1" dirty="0"/>
              <a:t>Example to close </a:t>
            </a:r>
            <a:r>
              <a:rPr lang="en-IN" b="1" dirty="0" smtClean="0"/>
              <a:t>connection</a:t>
            </a:r>
          </a:p>
          <a:p>
            <a:endParaRPr lang="en-IN" sz="1500" b="1" dirty="0"/>
          </a:p>
          <a:p>
            <a:pPr lvl="0">
              <a:buNone/>
            </a:pPr>
            <a:r>
              <a:rPr lang="en-IN" dirty="0" smtClean="0"/>
              <a:t>	</a:t>
            </a:r>
            <a:r>
              <a:rPr lang="en-IN" dirty="0" err="1" smtClean="0"/>
              <a:t>con.close</a:t>
            </a:r>
            <a:r>
              <a:rPr lang="en-IN" dirty="0"/>
              <a:t>();  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285720" y="2571744"/>
            <a:ext cx="8572560" cy="1643074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Example to Connect Java Application with mysql database</a:t>
            </a:r>
            <a:br>
              <a:rPr kumimoji="0" lang="en-IN" sz="4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endParaRPr kumimoji="0" lang="en-IN" sz="4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14290"/>
            <a:ext cx="9144000" cy="664371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IN" sz="1800" b="1" dirty="0" smtClean="0"/>
              <a:t>import</a:t>
            </a:r>
            <a:r>
              <a:rPr lang="en-IN" sz="1800" dirty="0"/>
              <a:t> java.sql.*;  </a:t>
            </a:r>
          </a:p>
          <a:p>
            <a:pPr>
              <a:buNone/>
            </a:pPr>
            <a:r>
              <a:rPr lang="en-IN" sz="1800" b="1" dirty="0"/>
              <a:t>class</a:t>
            </a:r>
            <a:r>
              <a:rPr lang="en-IN" sz="1800" dirty="0"/>
              <a:t> </a:t>
            </a:r>
            <a:r>
              <a:rPr lang="en-IN" sz="1800" dirty="0" err="1"/>
              <a:t>MysqlCon</a:t>
            </a:r>
            <a:r>
              <a:rPr lang="en-IN" sz="1800" dirty="0"/>
              <a:t>{  </a:t>
            </a:r>
          </a:p>
          <a:p>
            <a:pPr>
              <a:buNone/>
            </a:pPr>
            <a:r>
              <a:rPr lang="en-IN" sz="1800" b="1" dirty="0"/>
              <a:t>public</a:t>
            </a:r>
            <a:r>
              <a:rPr lang="en-IN" sz="1800" dirty="0"/>
              <a:t> </a:t>
            </a:r>
            <a:r>
              <a:rPr lang="en-IN" sz="1800" b="1" dirty="0"/>
              <a:t>static</a:t>
            </a:r>
            <a:r>
              <a:rPr lang="en-IN" sz="1800" dirty="0"/>
              <a:t> </a:t>
            </a:r>
            <a:r>
              <a:rPr lang="en-IN" sz="1800" b="1" dirty="0"/>
              <a:t>void</a:t>
            </a:r>
            <a:r>
              <a:rPr lang="en-IN" sz="1800" dirty="0"/>
              <a:t> main(String </a:t>
            </a:r>
            <a:r>
              <a:rPr lang="en-IN" sz="1800" dirty="0" err="1"/>
              <a:t>args</a:t>
            </a:r>
            <a:r>
              <a:rPr lang="en-IN" sz="1800" dirty="0" smtClean="0"/>
              <a:t>[])</a:t>
            </a:r>
          </a:p>
          <a:p>
            <a:pPr>
              <a:buNone/>
            </a:pPr>
            <a:r>
              <a:rPr lang="en-IN" sz="1800" dirty="0" smtClean="0"/>
              <a:t>{</a:t>
            </a:r>
            <a:r>
              <a:rPr lang="en-IN" sz="1800" dirty="0"/>
              <a:t>  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Try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</a:p>
          <a:p>
            <a:pPr>
              <a:buNone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Class.forName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com.mysql.jdbc.Driver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");  </a:t>
            </a:r>
          </a:p>
          <a:p>
            <a:pPr>
              <a:buNone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Connection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con=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DriverManager.getConnection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jdbc:mysql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://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localhost:3306/</a:t>
            </a:r>
            <a:r>
              <a:rPr lang="en-I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Emp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","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root","root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");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  <a:p>
            <a:pPr>
              <a:buNone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Statement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stmt=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con.createStatement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  </a:t>
            </a:r>
          </a:p>
          <a:p>
            <a:pPr>
              <a:buNone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ResultSet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stmt.executeQuery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("select * from 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");    </a:t>
            </a:r>
          </a:p>
          <a:p>
            <a:pPr>
              <a:buNone/>
            </a:pP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rs.next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  </a:t>
            </a:r>
          </a:p>
          <a:p>
            <a:pPr>
              <a:buNone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rs.getInt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)+"  "+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rs.getString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(2)+"  "+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rs.getString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(3));  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con.close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  </a:t>
            </a:r>
          </a:p>
          <a:p>
            <a:pPr>
              <a:buNone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>
              <a:buNone/>
            </a:pPr>
            <a:r>
              <a:rPr lang="en-IN" sz="1800" b="1" dirty="0" smtClean="0"/>
              <a:t>    catch</a:t>
            </a:r>
            <a:r>
              <a:rPr lang="en-IN" sz="1800" dirty="0" smtClean="0"/>
              <a:t>(Exception</a:t>
            </a:r>
            <a:r>
              <a:rPr lang="en-IN" sz="1800" dirty="0"/>
              <a:t> e</a:t>
            </a:r>
            <a:r>
              <a:rPr lang="en-IN" sz="1800" dirty="0" smtClean="0"/>
              <a:t>)    </a:t>
            </a:r>
            <a:r>
              <a:rPr lang="en-IN" sz="1800" dirty="0" smtClean="0"/>
              <a:t>{</a:t>
            </a:r>
            <a:r>
              <a:rPr lang="en-IN" sz="1800" dirty="0"/>
              <a:t> </a:t>
            </a:r>
            <a:endParaRPr lang="en-IN" sz="1800" dirty="0" smtClean="0"/>
          </a:p>
          <a:p>
            <a:pPr>
              <a:buNone/>
            </a:pPr>
            <a:r>
              <a:rPr lang="en-IN" sz="1800" dirty="0" smtClean="0"/>
              <a:t>         </a:t>
            </a:r>
            <a:r>
              <a:rPr lang="en-IN" sz="1800" dirty="0" err="1" smtClean="0"/>
              <a:t>System.out.println</a:t>
            </a:r>
            <a:r>
              <a:rPr lang="en-IN" sz="1800" dirty="0" smtClean="0"/>
              <a:t>(e</a:t>
            </a:r>
            <a:r>
              <a:rPr lang="en-IN" sz="1800" dirty="0" smtClean="0"/>
              <a:t>);    </a:t>
            </a:r>
            <a:r>
              <a:rPr lang="en-IN" sz="1800" dirty="0" smtClean="0"/>
              <a:t>}</a:t>
            </a:r>
            <a:r>
              <a:rPr lang="en-IN" sz="1800" dirty="0"/>
              <a:t>  </a:t>
            </a:r>
            <a:endParaRPr lang="en-IN" sz="1800" dirty="0" smtClean="0"/>
          </a:p>
          <a:p>
            <a:pPr>
              <a:buNone/>
            </a:pPr>
            <a:r>
              <a:rPr lang="en-IN" sz="1800" dirty="0" smtClean="0"/>
              <a:t>}</a:t>
            </a:r>
            <a:r>
              <a:rPr lang="en-IN" sz="1800" dirty="0"/>
              <a:t>  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564904"/>
            <a:ext cx="8229600" cy="1143000"/>
          </a:xfrm>
        </p:spPr>
        <p:txBody>
          <a:bodyPr/>
          <a:lstStyle/>
          <a:p>
            <a:r>
              <a:rPr lang="en-GB" dirty="0" smtClean="0"/>
              <a:t>Connection with Access Database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78935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260648"/>
            <a:ext cx="8856984" cy="64807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dirty="0"/>
              <a:t>import </a:t>
            </a:r>
            <a:r>
              <a:rPr lang="en-GB" sz="2000" dirty="0" err="1"/>
              <a:t>java.sql</a:t>
            </a:r>
            <a:r>
              <a:rPr lang="en-GB" sz="2000" dirty="0"/>
              <a:t>.*;</a:t>
            </a:r>
          </a:p>
          <a:p>
            <a:pPr marL="0" indent="0">
              <a:buNone/>
            </a:pPr>
            <a:r>
              <a:rPr lang="en-GB" sz="2000" dirty="0"/>
              <a:t>public class </a:t>
            </a:r>
            <a:r>
              <a:rPr lang="en-GB" sz="2000" dirty="0" err="1"/>
              <a:t>JdbcAccessTest</a:t>
            </a:r>
            <a:r>
              <a:rPr lang="en-GB" sz="2000" dirty="0"/>
              <a:t> {</a:t>
            </a:r>
          </a:p>
          <a:p>
            <a:pPr marL="0" indent="0">
              <a:buNone/>
            </a:pPr>
            <a:r>
              <a:rPr lang="en-GB" sz="2000" dirty="0"/>
              <a:t>    public static void main(String[] </a:t>
            </a:r>
            <a:r>
              <a:rPr lang="en-GB" sz="2000" dirty="0" err="1"/>
              <a:t>args</a:t>
            </a:r>
            <a:r>
              <a:rPr lang="en-GB" sz="2000" dirty="0"/>
              <a:t>) {</a:t>
            </a:r>
          </a:p>
          <a:p>
            <a:pPr marL="0" indent="0">
              <a:buNone/>
            </a:pPr>
            <a:r>
              <a:rPr lang="en-GB" sz="2000" dirty="0"/>
              <a:t>        String </a:t>
            </a:r>
            <a:r>
              <a:rPr lang="en-GB" sz="2000" dirty="0" err="1"/>
              <a:t>databaseURL</a:t>
            </a:r>
            <a:r>
              <a:rPr lang="en-GB" sz="2000" dirty="0"/>
              <a:t> = "</a:t>
            </a:r>
            <a:r>
              <a:rPr lang="en-GB" sz="2000" dirty="0" err="1"/>
              <a:t>jdbc:ucanaccess</a:t>
            </a:r>
            <a:r>
              <a:rPr lang="en-GB" sz="2000" dirty="0"/>
              <a:t>://e://Contacts.accdb";</a:t>
            </a:r>
          </a:p>
          <a:p>
            <a:pPr marL="0" indent="0">
              <a:buNone/>
            </a:pPr>
            <a:r>
              <a:rPr lang="en-GB" sz="2000" dirty="0"/>
              <a:t>        try </a:t>
            </a:r>
            <a:r>
              <a:rPr lang="en-GB" sz="2000" dirty="0" smtClean="0"/>
              <a:t>(</a:t>
            </a:r>
          </a:p>
          <a:p>
            <a:pPr marL="0" indent="0">
              <a:buNone/>
            </a:pPr>
            <a:r>
              <a:rPr lang="en-GB" sz="2000" dirty="0" smtClean="0"/>
              <a:t>Connection </a:t>
            </a:r>
            <a:r>
              <a:rPr lang="en-GB" sz="2000" dirty="0" err="1"/>
              <a:t>connection</a:t>
            </a:r>
            <a:r>
              <a:rPr lang="en-GB" sz="2000" dirty="0"/>
              <a:t> = </a:t>
            </a:r>
            <a:r>
              <a:rPr lang="en-GB" sz="2000" dirty="0" err="1"/>
              <a:t>DriverManager.getConnection</a:t>
            </a:r>
            <a:r>
              <a:rPr lang="en-GB" sz="2000" dirty="0"/>
              <a:t>(</a:t>
            </a:r>
            <a:r>
              <a:rPr lang="en-GB" sz="2000" dirty="0" err="1"/>
              <a:t>databaseURL</a:t>
            </a:r>
            <a:r>
              <a:rPr lang="en-GB" sz="2000" dirty="0"/>
              <a:t>)) {</a:t>
            </a:r>
          </a:p>
          <a:p>
            <a:pPr marL="0" indent="0">
              <a:buNone/>
            </a:pPr>
            <a:r>
              <a:rPr lang="en-GB" sz="2000" dirty="0"/>
              <a:t>   </a:t>
            </a:r>
            <a:r>
              <a:rPr lang="en-GB" sz="2000" dirty="0" smtClean="0"/>
              <a:t>String </a:t>
            </a:r>
            <a:r>
              <a:rPr lang="en-GB" sz="2000" dirty="0" err="1"/>
              <a:t>sql</a:t>
            </a:r>
            <a:r>
              <a:rPr lang="en-GB" sz="2000" dirty="0"/>
              <a:t> = "INSERT INTO Contacts (</a:t>
            </a:r>
            <a:r>
              <a:rPr lang="en-GB" sz="2000" dirty="0" err="1"/>
              <a:t>Full_Name</a:t>
            </a:r>
            <a:r>
              <a:rPr lang="en-GB" sz="2000" dirty="0"/>
              <a:t>, Email, Phone) VALUES (?, ?, ?)";</a:t>
            </a:r>
          </a:p>
          <a:p>
            <a:pPr marL="0" indent="0">
              <a:buNone/>
            </a:pPr>
            <a:r>
              <a:rPr lang="en-GB" sz="2000" dirty="0"/>
              <a:t>            </a:t>
            </a:r>
            <a:r>
              <a:rPr lang="en-GB" sz="2000" dirty="0" err="1"/>
              <a:t>PreparedStatement</a:t>
            </a:r>
            <a:r>
              <a:rPr lang="en-GB" sz="2000" dirty="0"/>
              <a:t> </a:t>
            </a:r>
            <a:r>
              <a:rPr lang="en-GB" sz="2000" dirty="0" err="1"/>
              <a:t>preparedStatement</a:t>
            </a:r>
            <a:r>
              <a:rPr lang="en-GB" sz="2000" dirty="0"/>
              <a:t> = </a:t>
            </a:r>
            <a:r>
              <a:rPr lang="en-GB" sz="2000" dirty="0" err="1"/>
              <a:t>connection.prepareStatement</a:t>
            </a:r>
            <a:r>
              <a:rPr lang="en-GB" sz="2000" dirty="0"/>
              <a:t>(</a:t>
            </a:r>
            <a:r>
              <a:rPr lang="en-GB" sz="2000" dirty="0" err="1"/>
              <a:t>sql</a:t>
            </a:r>
            <a:r>
              <a:rPr lang="en-GB" sz="2000" dirty="0"/>
              <a:t>);</a:t>
            </a:r>
          </a:p>
          <a:p>
            <a:pPr marL="0" indent="0">
              <a:buNone/>
            </a:pPr>
            <a:r>
              <a:rPr lang="en-GB" sz="2000" dirty="0"/>
              <a:t>            </a:t>
            </a:r>
            <a:r>
              <a:rPr lang="en-GB" sz="2000" dirty="0" err="1"/>
              <a:t>preparedStatement.setString</a:t>
            </a:r>
            <a:r>
              <a:rPr lang="en-GB" sz="2000" dirty="0"/>
              <a:t>(1, "</a:t>
            </a:r>
            <a:r>
              <a:rPr lang="en-GB" sz="2000" dirty="0" err="1"/>
              <a:t>Rohit</a:t>
            </a:r>
            <a:r>
              <a:rPr lang="en-GB" sz="2000" dirty="0"/>
              <a:t>");</a:t>
            </a:r>
          </a:p>
          <a:p>
            <a:pPr marL="0" indent="0">
              <a:buNone/>
            </a:pPr>
            <a:r>
              <a:rPr lang="en-GB" sz="2000" dirty="0"/>
              <a:t>            </a:t>
            </a:r>
            <a:r>
              <a:rPr lang="en-GB" sz="2000" dirty="0" err="1"/>
              <a:t>preparedStatement.setString</a:t>
            </a:r>
            <a:r>
              <a:rPr lang="en-GB" sz="2000" dirty="0"/>
              <a:t>(2, "rohit@mi.com");</a:t>
            </a:r>
          </a:p>
          <a:p>
            <a:pPr marL="0" indent="0">
              <a:buNone/>
            </a:pPr>
            <a:r>
              <a:rPr lang="en-GB" sz="2000" dirty="0"/>
              <a:t>            </a:t>
            </a:r>
            <a:r>
              <a:rPr lang="en-GB" sz="2000" dirty="0" err="1"/>
              <a:t>preparedStatement.setString</a:t>
            </a:r>
            <a:r>
              <a:rPr lang="en-GB" sz="2000" dirty="0"/>
              <a:t>(3, "0919989998");</a:t>
            </a:r>
          </a:p>
          <a:p>
            <a:pPr marL="0" indent="0">
              <a:buNone/>
            </a:pPr>
            <a:r>
              <a:rPr lang="en-GB" sz="2000" dirty="0"/>
              <a:t>            </a:t>
            </a:r>
            <a:r>
              <a:rPr lang="en-GB" sz="2000" dirty="0" err="1"/>
              <a:t>int</a:t>
            </a:r>
            <a:r>
              <a:rPr lang="en-GB" sz="2000" dirty="0"/>
              <a:t> row = </a:t>
            </a:r>
            <a:r>
              <a:rPr lang="en-GB" sz="2000" dirty="0" err="1"/>
              <a:t>preparedStatement.executeUpdate</a:t>
            </a:r>
            <a:r>
              <a:rPr lang="en-GB" sz="2000" dirty="0"/>
              <a:t>();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            if (row &gt; 0) {</a:t>
            </a:r>
          </a:p>
          <a:p>
            <a:pPr marL="0" indent="0">
              <a:buNone/>
            </a:pPr>
            <a:r>
              <a:rPr lang="en-GB" sz="2000" dirty="0"/>
              <a:t>                </a:t>
            </a:r>
            <a:r>
              <a:rPr lang="en-GB" sz="2000" dirty="0" err="1"/>
              <a:t>System.out.println</a:t>
            </a:r>
            <a:r>
              <a:rPr lang="en-GB" sz="2000" dirty="0"/>
              <a:t>("A row has been inserted successfully.");</a:t>
            </a:r>
          </a:p>
          <a:p>
            <a:pPr marL="0" indent="0">
              <a:buNone/>
            </a:pPr>
            <a:r>
              <a:rPr lang="en-GB" sz="2000" dirty="0"/>
              <a:t>            }</a:t>
            </a:r>
          </a:p>
          <a:p>
            <a:pPr marL="0" indent="0">
              <a:buNone/>
            </a:pPr>
            <a:r>
              <a:rPr lang="en-GB" sz="2000" dirty="0"/>
              <a:t>             </a:t>
            </a:r>
          </a:p>
        </p:txBody>
      </p:sp>
    </p:spTree>
    <p:extLst>
      <p:ext uri="{BB962C8B-B14F-4D97-AF65-F5344CB8AC3E}">
        <p14:creationId xmlns:p14="http://schemas.microsoft.com/office/powerpoint/2010/main" val="36972236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620688"/>
            <a:ext cx="8229600" cy="57606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dirty="0"/>
              <a:t> </a:t>
            </a:r>
            <a:r>
              <a:rPr lang="en-GB" sz="2000" dirty="0" err="1"/>
              <a:t>sql</a:t>
            </a:r>
            <a:r>
              <a:rPr lang="en-GB" sz="2000" dirty="0"/>
              <a:t> = "SELECT * FROM Contacts";</a:t>
            </a:r>
          </a:p>
          <a:p>
            <a:pPr marL="0" indent="0">
              <a:buNone/>
            </a:pPr>
            <a:r>
              <a:rPr lang="en-GB" sz="2000" dirty="0"/>
              <a:t>             </a:t>
            </a:r>
            <a:r>
              <a:rPr lang="en-GB" sz="2000" dirty="0" smtClean="0"/>
              <a:t>Statement </a:t>
            </a:r>
            <a:r>
              <a:rPr lang="en-GB" sz="2000" dirty="0" err="1"/>
              <a:t>statement</a:t>
            </a:r>
            <a:r>
              <a:rPr lang="en-GB" sz="2000" dirty="0"/>
              <a:t> = </a:t>
            </a:r>
            <a:r>
              <a:rPr lang="en-GB" sz="2000" dirty="0" err="1"/>
              <a:t>connection.createStatement</a:t>
            </a:r>
            <a:r>
              <a:rPr lang="en-GB" sz="2000" dirty="0"/>
              <a:t>();</a:t>
            </a:r>
          </a:p>
          <a:p>
            <a:pPr marL="0" indent="0">
              <a:buNone/>
            </a:pPr>
            <a:r>
              <a:rPr lang="en-GB" sz="2000" dirty="0"/>
              <a:t>            </a:t>
            </a:r>
            <a:r>
              <a:rPr lang="en-GB" sz="2000" dirty="0" err="1"/>
              <a:t>ResultSet</a:t>
            </a:r>
            <a:r>
              <a:rPr lang="en-GB" sz="2000" dirty="0"/>
              <a:t> result = </a:t>
            </a:r>
            <a:r>
              <a:rPr lang="en-GB" sz="2000" dirty="0" err="1"/>
              <a:t>statement.executeQuery</a:t>
            </a:r>
            <a:r>
              <a:rPr lang="en-GB" sz="2000" dirty="0"/>
              <a:t>(</a:t>
            </a:r>
            <a:r>
              <a:rPr lang="en-GB" sz="2000" dirty="0" err="1"/>
              <a:t>sql</a:t>
            </a:r>
            <a:r>
              <a:rPr lang="en-GB" sz="2000" dirty="0"/>
              <a:t>);</a:t>
            </a:r>
          </a:p>
          <a:p>
            <a:pPr marL="0" indent="0">
              <a:buNone/>
            </a:pPr>
            <a:r>
              <a:rPr lang="en-GB" sz="2000" dirty="0"/>
              <a:t>            </a:t>
            </a:r>
            <a:r>
              <a:rPr lang="en-GB" sz="2000" dirty="0" smtClean="0"/>
              <a:t>while </a:t>
            </a:r>
            <a:r>
              <a:rPr lang="en-GB" sz="2000" dirty="0"/>
              <a:t>(</a:t>
            </a:r>
            <a:r>
              <a:rPr lang="en-GB" sz="2000" dirty="0" err="1"/>
              <a:t>result.next</a:t>
            </a:r>
            <a:r>
              <a:rPr lang="en-GB" sz="2000" dirty="0"/>
              <a:t>()) {</a:t>
            </a:r>
          </a:p>
          <a:p>
            <a:pPr marL="0" indent="0">
              <a:buNone/>
            </a:pPr>
            <a:r>
              <a:rPr lang="en-GB" sz="2000" dirty="0"/>
              <a:t>                </a:t>
            </a:r>
            <a:r>
              <a:rPr lang="en-GB" sz="2000" dirty="0" err="1"/>
              <a:t>int</a:t>
            </a:r>
            <a:r>
              <a:rPr lang="en-GB" sz="2000" dirty="0"/>
              <a:t> id = </a:t>
            </a:r>
            <a:r>
              <a:rPr lang="en-GB" sz="2000" dirty="0" err="1"/>
              <a:t>result.getInt</a:t>
            </a:r>
            <a:r>
              <a:rPr lang="en-GB" sz="2000" dirty="0"/>
              <a:t>("</a:t>
            </a:r>
            <a:r>
              <a:rPr lang="en-GB" sz="2000" dirty="0" err="1"/>
              <a:t>Contact_ID</a:t>
            </a:r>
            <a:r>
              <a:rPr lang="en-GB" sz="2000" dirty="0"/>
              <a:t>");</a:t>
            </a:r>
          </a:p>
          <a:p>
            <a:pPr marL="0" indent="0">
              <a:buNone/>
            </a:pPr>
            <a:r>
              <a:rPr lang="en-GB" sz="2000" dirty="0"/>
              <a:t>                String </a:t>
            </a:r>
            <a:r>
              <a:rPr lang="en-GB" sz="2000" dirty="0" err="1"/>
              <a:t>fullname</a:t>
            </a:r>
            <a:r>
              <a:rPr lang="en-GB" sz="2000" dirty="0"/>
              <a:t> = </a:t>
            </a:r>
            <a:r>
              <a:rPr lang="en-GB" sz="2000" dirty="0" err="1"/>
              <a:t>result.getString</a:t>
            </a:r>
            <a:r>
              <a:rPr lang="en-GB" sz="2000" dirty="0"/>
              <a:t>("</a:t>
            </a:r>
            <a:r>
              <a:rPr lang="en-GB" sz="2000" dirty="0" err="1"/>
              <a:t>Full_Name</a:t>
            </a:r>
            <a:r>
              <a:rPr lang="en-GB" sz="2000" dirty="0"/>
              <a:t>");</a:t>
            </a:r>
          </a:p>
          <a:p>
            <a:pPr marL="0" indent="0">
              <a:buNone/>
            </a:pPr>
            <a:r>
              <a:rPr lang="en-GB" sz="2000" dirty="0"/>
              <a:t>                String email = </a:t>
            </a:r>
            <a:r>
              <a:rPr lang="en-GB" sz="2000" dirty="0" err="1"/>
              <a:t>result.getString</a:t>
            </a:r>
            <a:r>
              <a:rPr lang="en-GB" sz="2000" dirty="0"/>
              <a:t>("Email");</a:t>
            </a:r>
          </a:p>
          <a:p>
            <a:pPr marL="0" indent="0">
              <a:buNone/>
            </a:pPr>
            <a:r>
              <a:rPr lang="en-GB" sz="2000" dirty="0"/>
              <a:t>                String phone = </a:t>
            </a:r>
            <a:r>
              <a:rPr lang="en-GB" sz="2000" dirty="0" err="1"/>
              <a:t>result.getString</a:t>
            </a:r>
            <a:r>
              <a:rPr lang="en-GB" sz="2000" dirty="0"/>
              <a:t>("Phone");</a:t>
            </a:r>
          </a:p>
          <a:p>
            <a:pPr marL="0" indent="0">
              <a:buNone/>
            </a:pPr>
            <a:r>
              <a:rPr lang="en-GB" sz="2000" dirty="0" smtClean="0"/>
              <a:t>	</a:t>
            </a:r>
            <a:r>
              <a:rPr lang="en-GB" sz="2000" dirty="0" err="1" smtClean="0"/>
              <a:t>System.out.println</a:t>
            </a:r>
            <a:r>
              <a:rPr lang="en-GB" sz="2000" dirty="0" smtClean="0"/>
              <a:t>(id </a:t>
            </a:r>
            <a:r>
              <a:rPr lang="en-GB" sz="2000" dirty="0"/>
              <a:t>+ ", " + </a:t>
            </a:r>
            <a:r>
              <a:rPr lang="en-GB" sz="2000" dirty="0" err="1"/>
              <a:t>fullname</a:t>
            </a:r>
            <a:r>
              <a:rPr lang="en-GB" sz="2000" dirty="0"/>
              <a:t> + ", " + email + ", " + phone);</a:t>
            </a:r>
          </a:p>
          <a:p>
            <a:pPr marL="0" indent="0">
              <a:buNone/>
            </a:pPr>
            <a:r>
              <a:rPr lang="en-GB" sz="2000" dirty="0"/>
              <a:t>            </a:t>
            </a:r>
            <a:r>
              <a:rPr lang="en-GB" sz="2000" dirty="0" smtClean="0"/>
              <a:t>}</a:t>
            </a:r>
            <a:endParaRPr lang="en-GB" sz="2000" dirty="0"/>
          </a:p>
          <a:p>
            <a:pPr marL="0" indent="0">
              <a:buNone/>
            </a:pPr>
            <a:r>
              <a:rPr lang="en-GB" sz="2000" dirty="0"/>
              <a:t>        } catch (</a:t>
            </a:r>
            <a:r>
              <a:rPr lang="en-GB" sz="2000" dirty="0" err="1"/>
              <a:t>SQLException</a:t>
            </a:r>
            <a:r>
              <a:rPr lang="en-GB" sz="2000" dirty="0"/>
              <a:t> ex) {</a:t>
            </a:r>
          </a:p>
          <a:p>
            <a:pPr marL="0" indent="0">
              <a:buNone/>
            </a:pPr>
            <a:r>
              <a:rPr lang="en-GB" sz="2000" dirty="0"/>
              <a:t>            </a:t>
            </a:r>
            <a:r>
              <a:rPr lang="en-GB" sz="2000" dirty="0" err="1"/>
              <a:t>ex.printStackTrace</a:t>
            </a:r>
            <a:r>
              <a:rPr lang="en-GB" sz="2000" dirty="0"/>
              <a:t>();</a:t>
            </a:r>
          </a:p>
          <a:p>
            <a:pPr marL="0" indent="0">
              <a:buNone/>
            </a:pPr>
            <a:r>
              <a:rPr lang="en-GB" sz="2000" dirty="0"/>
              <a:t>        }</a:t>
            </a:r>
          </a:p>
          <a:p>
            <a:pPr marL="0" indent="0">
              <a:buNone/>
            </a:pPr>
            <a:r>
              <a:rPr lang="en-GB" sz="2000" dirty="0"/>
              <a:t>    }</a:t>
            </a:r>
          </a:p>
          <a:p>
            <a:pPr marL="0" indent="0">
              <a:buNone/>
            </a:pPr>
            <a:r>
              <a:rPr lang="en-GB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18260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523</TotalTime>
  <Words>1263</Words>
  <Application>Microsoft Office PowerPoint</Application>
  <PresentationFormat>On-screen Show (4:3)</PresentationFormat>
  <Paragraphs>216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Calibri</vt:lpstr>
      <vt:lpstr>Cambria</vt:lpstr>
      <vt:lpstr>Helvetica</vt:lpstr>
      <vt:lpstr>Times New Roman</vt:lpstr>
      <vt:lpstr>Wingdings</vt:lpstr>
      <vt:lpstr>Office Theme</vt:lpstr>
      <vt:lpstr>Interacting with Database</vt:lpstr>
      <vt:lpstr>ODBC</vt:lpstr>
      <vt:lpstr>JDBC</vt:lpstr>
      <vt:lpstr>JDBC Driver</vt:lpstr>
      <vt:lpstr>JDBC-ODBC bridge driver</vt:lpstr>
      <vt:lpstr>Native API driver</vt:lpstr>
      <vt:lpstr>JDBC-Net pure Java Driver</vt:lpstr>
      <vt:lpstr>Thin driver</vt:lpstr>
      <vt:lpstr>JDBC two tier model</vt:lpstr>
      <vt:lpstr>JDBC three tier model</vt:lpstr>
      <vt:lpstr>Common JDBC Components</vt:lpstr>
      <vt:lpstr>Common JDBC Components</vt:lpstr>
      <vt:lpstr>PowerPoint Presentation</vt:lpstr>
      <vt:lpstr>Driver Interface</vt:lpstr>
      <vt:lpstr>Connection Interface</vt:lpstr>
      <vt:lpstr>PowerPoint Presentation</vt:lpstr>
      <vt:lpstr>Statement Interface</vt:lpstr>
      <vt:lpstr>PowerPoint Presentation</vt:lpstr>
      <vt:lpstr>ResultSet Interface</vt:lpstr>
      <vt:lpstr>PowerPoint Presentation</vt:lpstr>
      <vt:lpstr>Connecting to Database</vt:lpstr>
      <vt:lpstr>1.Register the driver class</vt:lpstr>
      <vt:lpstr>2. Creating connection</vt:lpstr>
      <vt:lpstr>3. Creating statement</vt:lpstr>
      <vt:lpstr>4. Executing queries</vt:lpstr>
      <vt:lpstr>5. Closing connection</vt:lpstr>
      <vt:lpstr>PowerPoint Presentation</vt:lpstr>
      <vt:lpstr>PowerPoint Presentation</vt:lpstr>
      <vt:lpstr>Connection with Access Database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Prag</dc:creator>
  <cp:lastModifiedBy>Win10</cp:lastModifiedBy>
  <cp:revision>67</cp:revision>
  <dcterms:created xsi:type="dcterms:W3CDTF">2016-02-27T04:32:05Z</dcterms:created>
  <dcterms:modified xsi:type="dcterms:W3CDTF">2019-09-06T16:42:38Z</dcterms:modified>
</cp:coreProperties>
</file>