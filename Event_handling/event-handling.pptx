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361" r:id="rId2"/>
    <p:sldId id="359" r:id="rId3"/>
    <p:sldId id="256" r:id="rId4"/>
    <p:sldId id="351" r:id="rId5"/>
    <p:sldId id="259" r:id="rId6"/>
    <p:sldId id="363" r:id="rId7"/>
    <p:sldId id="362" r:id="rId8"/>
    <p:sldId id="260" r:id="rId9"/>
    <p:sldId id="364" r:id="rId10"/>
    <p:sldId id="257" r:id="rId11"/>
    <p:sldId id="262" r:id="rId12"/>
    <p:sldId id="263" r:id="rId13"/>
    <p:sldId id="264" r:id="rId14"/>
    <p:sldId id="358" r:id="rId15"/>
    <p:sldId id="365" r:id="rId16"/>
    <p:sldId id="266" r:id="rId17"/>
    <p:sldId id="354" r:id="rId18"/>
    <p:sldId id="366" r:id="rId19"/>
    <p:sldId id="367" r:id="rId20"/>
    <p:sldId id="352" r:id="rId21"/>
    <p:sldId id="353" r:id="rId22"/>
    <p:sldId id="355" r:id="rId23"/>
    <p:sldId id="276" r:id="rId24"/>
    <p:sldId id="277" r:id="rId25"/>
    <p:sldId id="356" r:id="rId26"/>
    <p:sldId id="278" r:id="rId27"/>
    <p:sldId id="287" r:id="rId28"/>
    <p:sldId id="306" r:id="rId29"/>
    <p:sldId id="307" r:id="rId30"/>
    <p:sldId id="308" r:id="rId31"/>
    <p:sldId id="309" r:id="rId32"/>
    <p:sldId id="312" r:id="rId33"/>
    <p:sldId id="313" r:id="rId34"/>
    <p:sldId id="314" r:id="rId35"/>
    <p:sldId id="331" r:id="rId36"/>
    <p:sldId id="332" r:id="rId37"/>
    <p:sldId id="333" r:id="rId38"/>
    <p:sldId id="315" r:id="rId39"/>
    <p:sldId id="316" r:id="rId40"/>
    <p:sldId id="317" r:id="rId41"/>
    <p:sldId id="318" r:id="rId42"/>
    <p:sldId id="319" r:id="rId43"/>
    <p:sldId id="320" r:id="rId44"/>
    <p:sldId id="321" r:id="rId45"/>
    <p:sldId id="322" r:id="rId46"/>
    <p:sldId id="336" r:id="rId47"/>
    <p:sldId id="346" r:id="rId48"/>
    <p:sldId id="347" r:id="rId49"/>
    <p:sldId id="343" r:id="rId50"/>
    <p:sldId id="340" r:id="rId51"/>
    <p:sldId id="341" r:id="rId52"/>
    <p:sldId id="338" r:id="rId53"/>
    <p:sldId id="339" r:id="rId54"/>
    <p:sldId id="327" r:id="rId55"/>
    <p:sldId id="272" r:id="rId56"/>
    <p:sldId id="273" r:id="rId57"/>
    <p:sldId id="274" r:id="rId58"/>
    <p:sldId id="275" r:id="rId59"/>
    <p:sldId id="368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D0FC91-A9EB-414F-B108-B34405947B5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696E8-0AE8-46C6-939B-E5C1A60617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27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5696E8-0AE8-46C6-939B-E5C1A60617D9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344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5696E8-0AE8-46C6-939B-E5C1A60617D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648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AJP Unit-III                            Mrs. Chavan P. P.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AJP Unit-III                            Mrs. Chavan P. P.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AJP Unit-III                            Mrs. Chavan P. P.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AJP Unit-III                            Mrs. Chavan P. P.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AJP Unit-III                            Mrs. Chavan P. P.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AJP Unit-III                            Mrs. Chavan P. P.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AJP Unit-III                            Mrs. Chavan P. P.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AJP Unit-III                            Mrs. Chavan P. P.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AJP Unit-III                            Mrs. Chavan P. P.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AJP Unit-III                            Mrs. Chavan P. P.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Engineering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AJP Unit-III                            Mrs. Chavan P. P.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Engineering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AJP Unit-III                            Mrs. Chavan P. P.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F7EEA-85D2-497E-9C95-F3C1348C26C9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5400" b="1" dirty="0"/>
              <a:t>Event Handling </a:t>
            </a:r>
            <a:endParaRPr lang="en-GB" sz="54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Unit III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010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GB" dirty="0" err="1"/>
              <a:t>javax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507288" cy="5400600"/>
          </a:xfrm>
        </p:spPr>
        <p:txBody>
          <a:bodyPr>
            <a:noAutofit/>
          </a:bodyPr>
          <a:lstStyle/>
          <a:p>
            <a:pPr fontAlgn="base"/>
            <a:r>
              <a:rPr lang="en-GB" sz="2400" dirty="0"/>
              <a:t>Originally, everything that was part of the standard API was part of the java package, whereas </a:t>
            </a:r>
            <a:r>
              <a:rPr lang="en-GB" sz="2400" b="1" dirty="0"/>
              <a:t>everything that was not part of the standard API was released under the package name </a:t>
            </a:r>
            <a:r>
              <a:rPr lang="en-GB" sz="2400" b="1" dirty="0" err="1"/>
              <a:t>javax</a:t>
            </a:r>
            <a:r>
              <a:rPr lang="en-GB" sz="2400" b="1" dirty="0"/>
              <a:t>. </a:t>
            </a:r>
            <a:r>
              <a:rPr lang="en-GB" sz="2400" dirty="0"/>
              <a:t>Hence, packages essential to the API was java, while </a:t>
            </a:r>
            <a:r>
              <a:rPr lang="en-GB" sz="2400" dirty="0" err="1"/>
              <a:t>javax</a:t>
            </a:r>
            <a:r>
              <a:rPr lang="en-GB" sz="2400" dirty="0"/>
              <a:t> contained the </a:t>
            </a:r>
            <a:r>
              <a:rPr lang="en-GB" sz="2400" b="1" dirty="0"/>
              <a:t>extensions</a:t>
            </a:r>
            <a:r>
              <a:rPr lang="en-GB" sz="2400" dirty="0"/>
              <a:t> to the API. It can even be said that </a:t>
            </a:r>
            <a:r>
              <a:rPr lang="en-GB" sz="2400" dirty="0" err="1"/>
              <a:t>javax</a:t>
            </a:r>
            <a:r>
              <a:rPr lang="en-GB" sz="2400" dirty="0"/>
              <a:t>, is just java with an x, which stands for extension.</a:t>
            </a:r>
          </a:p>
          <a:p>
            <a:pPr fontAlgn="base"/>
            <a:r>
              <a:rPr lang="en-GB" sz="2400" dirty="0"/>
              <a:t>Over time the extensions that were released as </a:t>
            </a:r>
            <a:r>
              <a:rPr lang="en-GB" sz="2400" dirty="0" err="1"/>
              <a:t>javax</a:t>
            </a:r>
            <a:r>
              <a:rPr lang="en-GB" sz="2400" dirty="0"/>
              <a:t>, become integral to the Java API. However, moving the extension from the </a:t>
            </a:r>
            <a:r>
              <a:rPr lang="en-GB" sz="2400" dirty="0" err="1"/>
              <a:t>javax</a:t>
            </a:r>
            <a:r>
              <a:rPr lang="en-GB" sz="2400" dirty="0"/>
              <a:t> package to the java package would be too cumbersome and would end up breaking a bunch of existing code. Hence, eventually it was decided that the </a:t>
            </a:r>
            <a:r>
              <a:rPr lang="en-GB" sz="2400" dirty="0" err="1"/>
              <a:t>javax</a:t>
            </a:r>
            <a:r>
              <a:rPr lang="en-GB" sz="2400" dirty="0"/>
              <a:t> packages would become part of the standard API.</a:t>
            </a:r>
          </a:p>
          <a:p>
            <a:pPr fontAlgn="base"/>
            <a:r>
              <a:rPr lang="en-GB" sz="2400" dirty="0"/>
              <a:t>So, practically there is no difference between Java and </a:t>
            </a:r>
            <a:r>
              <a:rPr lang="en-GB" sz="2400" dirty="0" err="1"/>
              <a:t>Javax</a:t>
            </a:r>
            <a:r>
              <a:rPr lang="en-GB" sz="2400" dirty="0"/>
              <a:t>. It is all in a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947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48" y="0"/>
            <a:ext cx="7772400" cy="928694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Cambria" pitchFamily="18" charset="0"/>
              </a:rPr>
              <a:t>Event Handling</a:t>
            </a:r>
            <a:endParaRPr lang="en-IN" sz="5400" dirty="0">
              <a:latin typeface="Cambr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472" y="1428736"/>
            <a:ext cx="8358246" cy="4786346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>
                <a:solidFill>
                  <a:schemeClr val="tx1"/>
                </a:solidFill>
              </a:rPr>
              <a:t>	Any program that uses GUI (graphical user interface) such as Java application written for windows, is event driven. </a:t>
            </a:r>
          </a:p>
          <a:p>
            <a:pPr algn="just"/>
            <a:endParaRPr lang="en-IN" dirty="0">
              <a:solidFill>
                <a:schemeClr val="tx1"/>
              </a:solidFill>
            </a:endParaRPr>
          </a:p>
          <a:p>
            <a:pPr algn="just"/>
            <a:r>
              <a:rPr lang="en-IN" dirty="0">
                <a:solidFill>
                  <a:schemeClr val="tx1"/>
                </a:solidFill>
              </a:rPr>
              <a:t>Event describes the change of state of any object. </a:t>
            </a:r>
          </a:p>
          <a:p>
            <a:pPr algn="just"/>
            <a:endParaRPr lang="en-IN" dirty="0">
              <a:solidFill>
                <a:schemeClr val="tx1"/>
              </a:solidFill>
            </a:endParaRPr>
          </a:p>
          <a:p>
            <a:pPr algn="just"/>
            <a:r>
              <a:rPr lang="en-IN" dirty="0">
                <a:solidFill>
                  <a:schemeClr val="tx1"/>
                </a:solidFill>
              </a:rPr>
              <a:t>Events are generated as result of user interaction with the graphical user interface components.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lnSpcReduction="10000"/>
          </a:bodyPr>
          <a:lstStyle/>
          <a:p>
            <a:r>
              <a:rPr lang="en-IN" dirty="0"/>
              <a:t>Changing the state of an object is known as an event. </a:t>
            </a:r>
          </a:p>
          <a:p>
            <a:r>
              <a:rPr lang="en-IN" b="1" dirty="0"/>
              <a:t>For example: </a:t>
            </a:r>
            <a:r>
              <a:rPr lang="en-IN" dirty="0"/>
              <a:t>clicking on a button, Entering a character in Textbox, moving the mouse, selecting an item from list, scrolling the page, etc.</a:t>
            </a:r>
          </a:p>
          <a:p>
            <a:r>
              <a:rPr lang="en-IN" dirty="0"/>
              <a:t>The </a:t>
            </a:r>
            <a:r>
              <a:rPr lang="en-IN" b="1" dirty="0"/>
              <a:t>java.awt.event</a:t>
            </a:r>
            <a:r>
              <a:rPr lang="en-IN" dirty="0"/>
              <a:t> package provides many event classes and Listener interfaces for event handling.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340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60387"/>
          </a:xfrm>
        </p:spPr>
        <p:txBody>
          <a:bodyPr>
            <a:normAutofit fontScale="90000"/>
          </a:bodyPr>
          <a:lstStyle/>
          <a:p>
            <a:r>
              <a:rPr lang="en-US" sz="3800" b="1" dirty="0">
                <a:latin typeface="Cambria" panose="02040503050406030204" pitchFamily="18" charset="0"/>
                <a:ea typeface="Cambria" panose="02040503050406030204" pitchFamily="18" charset="0"/>
              </a:rPr>
              <a:t>Delegation Event Model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10600" cy="55626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modern approach to handling events is based on the delegation event model. </a:t>
            </a:r>
          </a:p>
          <a:p>
            <a:pPr algn="just">
              <a:lnSpc>
                <a:spcPct val="9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delegation event model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provides a standard mechanism for a source to generate an event and send it to a set of listeners.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435280" cy="5159598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Its concept is quite simple: a source generates an event and sends it to one or more listeners. 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In this scheme, the listener simply waits until it receives an event. Once received, the listener processes the event and then returns. 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The advantage of this design is that the application logic that processes events is cleanly separated from the user interface logic that generates those events. 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 user interface element is able to “delegate” the processing of an event to a separate piece of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US" sz="3800" b="1" dirty="0">
                <a:latin typeface="Cambria" panose="02040503050406030204" pitchFamily="18" charset="0"/>
                <a:ea typeface="Cambria" panose="02040503050406030204" pitchFamily="18" charset="0"/>
              </a:rPr>
              <a:t>Delegation Event Model</a:t>
            </a:r>
          </a:p>
        </p:txBody>
      </p:sp>
    </p:spTree>
    <p:extLst>
      <p:ext uri="{BB962C8B-B14F-4D97-AF65-F5344CB8AC3E}">
        <p14:creationId xmlns:p14="http://schemas.microsoft.com/office/powerpoint/2010/main" val="2118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600" y="1417638"/>
            <a:ext cx="7632848" cy="417160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812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81000"/>
            <a:ext cx="8229600" cy="6172200"/>
          </a:xfrm>
        </p:spPr>
        <p:txBody>
          <a:bodyPr/>
          <a:lstStyle/>
          <a:p>
            <a:r>
              <a:rPr lang="en-US" dirty="0"/>
              <a:t>In the delegation event model, </a:t>
            </a:r>
            <a:r>
              <a:rPr lang="en-US" b="1" dirty="0"/>
              <a:t>listener must register with a source in order to receive an event notification.</a:t>
            </a:r>
          </a:p>
          <a:p>
            <a:r>
              <a:rPr lang="en-US" dirty="0"/>
              <a:t>Notification are sent only to listeners that want to receive them.</a:t>
            </a:r>
          </a:p>
          <a:p>
            <a:r>
              <a:rPr lang="en-US" dirty="0"/>
              <a:t>There are mainly three parts in delegation event model.</a:t>
            </a:r>
          </a:p>
          <a:p>
            <a:pPr lvl="1"/>
            <a:r>
              <a:rPr lang="en-US" b="1" dirty="0"/>
              <a:t>Events.</a:t>
            </a:r>
          </a:p>
          <a:p>
            <a:pPr lvl="1"/>
            <a:r>
              <a:rPr lang="en-US" b="1" dirty="0"/>
              <a:t>Event sources.</a:t>
            </a:r>
          </a:p>
          <a:p>
            <a:pPr lvl="1"/>
            <a:r>
              <a:rPr lang="en-US" b="1" dirty="0"/>
              <a:t>Event Listeners.</a:t>
            </a:r>
          </a:p>
          <a:p>
            <a:pPr lvl="1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fontScale="92500"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Events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</a:p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	An event is a change of state of an object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It can be generated as a consequence of a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person interacting with the elements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in a graphical user interface. 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Some of the activities that cause events to be generated are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pressing a button, entering a character via the keyboard, selecting an item in a list, and clicking the mouse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9</a:t>
            </a:fld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Components of Event Handling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113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Event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568952" cy="4983162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Events may also occur that are not directly caused by interactions with a user interface.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For example, an event may be generated 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when a timer expires, a counter exceeds a value, software </a:t>
            </a: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or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 hardware failure occurs, </a:t>
            </a: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or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 an operation is completed</a:t>
            </a: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We are free to define events that are appropriate for an application.</a:t>
            </a:r>
            <a:endParaRPr lang="en-US" sz="6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10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60387"/>
          </a:xfrm>
        </p:spPr>
        <p:txBody>
          <a:bodyPr>
            <a:normAutofit fontScale="90000"/>
          </a:bodyPr>
          <a:lstStyle/>
          <a:p>
            <a:r>
              <a:rPr lang="en-US" sz="3800" b="1" dirty="0">
                <a:latin typeface="Cambria" panose="02040503050406030204" pitchFamily="18" charset="0"/>
                <a:ea typeface="Cambria" panose="02040503050406030204" pitchFamily="18" charset="0"/>
              </a:rPr>
              <a:t>Event Sources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10600" cy="5638800"/>
          </a:xfrm>
        </p:spPr>
        <p:txBody>
          <a:bodyPr/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source is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an object that generates an event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This occurs when the internal state of that object changes in some way. 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Sources may generate more than one type of event. 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source must register listeners in order for the listeners to receive notifications about a specific type of event. </a:t>
            </a: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Each type of event has its own registration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11</a:t>
            </a:fld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8686800" cy="64008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Here is the general form to register listeners:</a:t>
            </a:r>
          </a:p>
          <a:p>
            <a:pPr lvl="1" algn="just"/>
            <a:r>
              <a:rPr lang="en-US" b="1" dirty="0"/>
              <a:t>public void </a:t>
            </a:r>
            <a:r>
              <a:rPr lang="en-US" b="1" dirty="0" err="1"/>
              <a:t>add</a:t>
            </a:r>
            <a:r>
              <a:rPr lang="en-US" b="1" dirty="0" err="1">
                <a:solidFill>
                  <a:srgbClr val="FF0000"/>
                </a:solidFill>
              </a:rPr>
              <a:t>Type</a:t>
            </a:r>
            <a:r>
              <a:rPr lang="en-US" b="1" dirty="0" err="1"/>
              <a:t>Listener</a:t>
            </a:r>
            <a:r>
              <a:rPr lang="en-US" b="1" dirty="0"/>
              <a:t>(</a:t>
            </a:r>
            <a:r>
              <a:rPr lang="en-US" b="1" dirty="0" err="1">
                <a:solidFill>
                  <a:srgbClr val="FF0000"/>
                </a:solidFill>
              </a:rPr>
              <a:t>Type</a:t>
            </a:r>
            <a:r>
              <a:rPr lang="en-US" b="1" dirty="0" err="1"/>
              <a:t>Listener</a:t>
            </a:r>
            <a:r>
              <a:rPr lang="en-US" b="1" dirty="0"/>
              <a:t> el)</a:t>
            </a:r>
          </a:p>
          <a:p>
            <a:pPr lvl="1" algn="just"/>
            <a:r>
              <a:rPr lang="en-US" b="1" dirty="0"/>
              <a:t>For example: </a:t>
            </a:r>
            <a:r>
              <a:rPr lang="en-US" b="1" dirty="0" err="1"/>
              <a:t>b.addActionListener</a:t>
            </a:r>
            <a:r>
              <a:rPr lang="en-US" b="1" dirty="0"/>
              <a:t>(this); </a:t>
            </a:r>
          </a:p>
          <a:p>
            <a:pPr algn="just"/>
            <a:r>
              <a:rPr lang="en-US" dirty="0"/>
              <a:t>Here, </a:t>
            </a:r>
            <a:r>
              <a:rPr lang="en-US" b="1" dirty="0"/>
              <a:t>type</a:t>
            </a:r>
            <a:r>
              <a:rPr lang="en-US" dirty="0"/>
              <a:t> is the name of the event, and </a:t>
            </a:r>
            <a:r>
              <a:rPr lang="en-US" b="1" dirty="0"/>
              <a:t>el</a:t>
            </a:r>
            <a:r>
              <a:rPr lang="en-US" dirty="0"/>
              <a:t> is a reference to the event listener. </a:t>
            </a:r>
          </a:p>
          <a:p>
            <a:pPr algn="just"/>
            <a:r>
              <a:rPr lang="en-US" dirty="0"/>
              <a:t>For example, the method that registers a keyboard event listener is called </a:t>
            </a:r>
            <a:r>
              <a:rPr lang="en-US" dirty="0" err="1"/>
              <a:t>addKeyListener</a:t>
            </a:r>
            <a:r>
              <a:rPr lang="en-US" dirty="0"/>
              <a:t>(). </a:t>
            </a:r>
          </a:p>
          <a:p>
            <a:pPr algn="just"/>
            <a:r>
              <a:rPr lang="en-US" dirty="0"/>
              <a:t>The method that registers a mouse motion listener is called </a:t>
            </a:r>
            <a:r>
              <a:rPr lang="en-US" dirty="0" err="1"/>
              <a:t>addMouseMotionListener</a:t>
            </a:r>
            <a:r>
              <a:rPr lang="en-US" dirty="0"/>
              <a:t>(). </a:t>
            </a:r>
          </a:p>
          <a:p>
            <a:pPr algn="just"/>
            <a:r>
              <a:rPr lang="en-US" dirty="0"/>
              <a:t>When an event occurs, all registered listeners are notified and receive a copy of the event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33400"/>
            <a:ext cx="8229600" cy="559752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general form of unregister listener method is this:</a:t>
            </a:r>
          </a:p>
          <a:p>
            <a:pPr algn="just">
              <a:buFont typeface="Wingdings" pitchFamily="2" charset="2"/>
              <a:buNone/>
            </a:pPr>
            <a:endParaRPr lang="en-US" dirty="0"/>
          </a:p>
          <a:p>
            <a:pPr lvl="1" algn="just"/>
            <a:r>
              <a:rPr lang="en-US" b="1" dirty="0"/>
              <a:t>Public void </a:t>
            </a:r>
            <a:r>
              <a:rPr lang="en-US" b="1" dirty="0" err="1"/>
              <a:t>remove</a:t>
            </a:r>
            <a:r>
              <a:rPr lang="en-US" b="1" dirty="0" err="1">
                <a:solidFill>
                  <a:srgbClr val="FF0000"/>
                </a:solidFill>
              </a:rPr>
              <a:t>Type</a:t>
            </a:r>
            <a:r>
              <a:rPr lang="en-US" b="1" dirty="0" err="1"/>
              <a:t>Listener</a:t>
            </a:r>
            <a:r>
              <a:rPr lang="en-US" b="1" dirty="0"/>
              <a:t>(</a:t>
            </a:r>
            <a:r>
              <a:rPr lang="en-US" b="1" dirty="0" err="1">
                <a:solidFill>
                  <a:srgbClr val="FF0000"/>
                </a:solidFill>
              </a:rPr>
              <a:t>Type</a:t>
            </a:r>
            <a:r>
              <a:rPr lang="en-US" b="1" dirty="0" err="1"/>
              <a:t>Listener</a:t>
            </a:r>
            <a:r>
              <a:rPr lang="en-US" b="1" dirty="0"/>
              <a:t> el)</a:t>
            </a:r>
          </a:p>
          <a:p>
            <a:pPr lvl="1" algn="just"/>
            <a:endParaRPr lang="en-US" dirty="0"/>
          </a:p>
          <a:p>
            <a:pPr algn="just"/>
            <a:r>
              <a:rPr lang="en-US" dirty="0"/>
              <a:t>Here, </a:t>
            </a:r>
            <a:r>
              <a:rPr lang="en-US" b="1" dirty="0"/>
              <a:t>type</a:t>
            </a:r>
            <a:r>
              <a:rPr lang="en-US" dirty="0"/>
              <a:t> is an object that is notified when an event listener. For example, to remove a keyboard listener, you would call </a:t>
            </a:r>
            <a:r>
              <a:rPr lang="en-US" dirty="0" err="1"/>
              <a:t>removeKeyListener</a:t>
            </a:r>
            <a:r>
              <a:rPr lang="en-US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484188"/>
          </a:xfrm>
        </p:spPr>
        <p:txBody>
          <a:bodyPr>
            <a:normAutofit fontScale="90000"/>
          </a:bodyPr>
          <a:lstStyle/>
          <a:p>
            <a:r>
              <a:rPr lang="en-US" sz="3800" b="1" dirty="0">
                <a:latin typeface="Cambria" panose="02040503050406030204" pitchFamily="18" charset="0"/>
                <a:ea typeface="Cambria" panose="02040503050406030204" pitchFamily="18" charset="0"/>
              </a:rPr>
              <a:t>Event Listeners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610600" cy="5791200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listener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is an object that is notified when an event occurs. </a:t>
            </a:r>
          </a:p>
          <a:p>
            <a:pPr algn="just">
              <a:lnSpc>
                <a:spcPct val="8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It has two major requirements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First,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it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must have been registered with one or more sources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to receive notifications about specific types of events. </a:t>
            </a:r>
          </a:p>
          <a:p>
            <a:pPr algn="just">
              <a:lnSpc>
                <a:spcPct val="8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Second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it must implement methods to receive and process these notifications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algn="just">
              <a:lnSpc>
                <a:spcPct val="8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method that receive and process events are defined in a set of interfaces found in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java.awt.event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14</a:t>
            </a:fld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928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Event Listeners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For example, the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MouseMotionListener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interface defines two methods to receive notifications when the mouse is dragged or moved. 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Any object may receive and process one or both of these events if it provides an implementation of this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15</a:t>
            </a:fld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708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 descr="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16632"/>
            <a:ext cx="8415366" cy="6357982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16</a:t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1560" y="2852936"/>
            <a:ext cx="8229600" cy="5928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400" b="1" dirty="0"/>
              <a:t>Important Event Classes and Interface</a:t>
            </a:r>
            <a:endParaRPr lang="en-IN" sz="5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221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Event Classes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435280" cy="4785395"/>
          </a:xfrm>
        </p:spPr>
        <p:txBody>
          <a:bodyPr>
            <a:noAutofit/>
          </a:bodyPr>
          <a:lstStyle/>
          <a:p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The classes that represent events are at the core of Java’s event handling mechanism. </a:t>
            </a:r>
          </a:p>
          <a:p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At the root of the Java event class hierarchy is </a:t>
            </a:r>
            <a:r>
              <a:rPr lang="en-GB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EventObject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, which is in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java.util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. It is the superclass for all events. </a:t>
            </a:r>
            <a:r>
              <a:rPr lang="en-GB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EventObject</a:t>
            </a: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 contains two methods: </a:t>
            </a:r>
            <a:r>
              <a:rPr lang="en-GB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getSource</a:t>
            </a: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( ) and </a:t>
            </a:r>
            <a:r>
              <a:rPr lang="en-GB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toString</a:t>
            </a: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( ). </a:t>
            </a:r>
          </a:p>
          <a:p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getSource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( ) method returns the source of the event. Its general form is shown here:</a:t>
            </a:r>
          </a:p>
          <a:p>
            <a:pPr algn="ctr"/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Object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getSource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( )</a:t>
            </a:r>
          </a:p>
          <a:p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As expected,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toString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( ) returns the string equivalent of the event.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18</a:t>
            </a:fld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22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756150"/>
          </a:xfrm>
        </p:spPr>
        <p:txBody>
          <a:bodyPr>
            <a:normAutofit fontScale="92500"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The class </a:t>
            </a:r>
            <a:r>
              <a:rPr lang="en-GB" b="1" dirty="0" err="1">
                <a:latin typeface="Cambria" panose="02040503050406030204" pitchFamily="18" charset="0"/>
                <a:ea typeface="Cambria" panose="02040503050406030204" pitchFamily="18" charset="0"/>
              </a:rPr>
              <a:t>AWTEvent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defined within the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java.awt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package,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is a subclass of </a:t>
            </a:r>
            <a:r>
              <a:rPr lang="en-GB" b="1" dirty="0" err="1">
                <a:latin typeface="Cambria" panose="02040503050406030204" pitchFamily="18" charset="0"/>
                <a:ea typeface="Cambria" panose="02040503050406030204" pitchFamily="18" charset="0"/>
              </a:rPr>
              <a:t>EventObject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It is the superclass (either directly or indirectly) of all AWT-based events used by the delegation event model.</a:t>
            </a:r>
          </a:p>
          <a:p>
            <a:pPr lvl="1"/>
            <a:r>
              <a:rPr lang="en-GB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EventObject</a:t>
            </a:r>
            <a:r>
              <a:rPr lang="en-GB" sz="3200" dirty="0">
                <a:latin typeface="Cambria" panose="02040503050406030204" pitchFamily="18" charset="0"/>
                <a:ea typeface="Cambria" panose="02040503050406030204" pitchFamily="18" charset="0"/>
              </a:rPr>
              <a:t> is a superclass of all events.</a:t>
            </a:r>
          </a:p>
          <a:p>
            <a:pPr lvl="1"/>
            <a:r>
              <a:rPr lang="en-GB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AWTEvent</a:t>
            </a:r>
            <a:r>
              <a:rPr lang="en-GB" sz="3200" dirty="0">
                <a:latin typeface="Cambria" panose="02040503050406030204" pitchFamily="18" charset="0"/>
                <a:ea typeface="Cambria" panose="02040503050406030204" pitchFamily="18" charset="0"/>
              </a:rPr>
              <a:t> is a superclass of all AWT events that are handled by the delegation event model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Event Classes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270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5382241"/>
              </p:ext>
            </p:extLst>
          </p:nvPr>
        </p:nvGraphicFramePr>
        <p:xfrm>
          <a:off x="0" y="-1"/>
          <a:ext cx="9144000" cy="690336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79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2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717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b="1" dirty="0">
                          <a:effectLst/>
                        </a:rPr>
                        <a:t>Event Classes</a:t>
                      </a:r>
                      <a:endParaRPr lang="en-IN" sz="16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b="1">
                          <a:effectLst/>
                        </a:rPr>
                        <a:t>Description</a:t>
                      </a:r>
                      <a:endParaRPr lang="en-IN" sz="1600" b="1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b="1" dirty="0">
                          <a:effectLst/>
                        </a:rPr>
                        <a:t>Listener Interface</a:t>
                      </a:r>
                      <a:endParaRPr lang="en-IN" sz="16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494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 dirty="0">
                          <a:effectLst/>
                        </a:rPr>
                        <a:t>ActionEvent</a:t>
                      </a:r>
                      <a:endParaRPr lang="en-IN" sz="20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generated when button is pressed, menu-item is selected, list-item is double clicked</a:t>
                      </a:r>
                      <a:endParaRPr lang="en-IN" sz="1800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 err="1">
                          <a:effectLst/>
                        </a:rPr>
                        <a:t>ActionListener</a:t>
                      </a:r>
                      <a:endParaRPr lang="en-IN" sz="16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222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 dirty="0" err="1">
                          <a:effectLst/>
                        </a:rPr>
                        <a:t>MouseEvent</a:t>
                      </a:r>
                      <a:endParaRPr lang="en-IN" sz="20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generated when mouse is dragged, moved, clicked, pressed or released and also when it enters or exit a component</a:t>
                      </a:r>
                      <a:endParaRPr lang="en-IN" sz="1800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 err="1">
                          <a:effectLst/>
                        </a:rPr>
                        <a:t>MouseListener</a:t>
                      </a:r>
                      <a:endParaRPr lang="en-IN" sz="16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916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 dirty="0" err="1">
                          <a:effectLst/>
                        </a:rPr>
                        <a:t>KeyEvent</a:t>
                      </a:r>
                      <a:endParaRPr lang="en-IN" sz="20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generated when input is received from keyboard</a:t>
                      </a:r>
                      <a:endParaRPr lang="en-IN" sz="1800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 err="1">
                          <a:effectLst/>
                        </a:rPr>
                        <a:t>KeyListener</a:t>
                      </a:r>
                      <a:endParaRPr lang="en-IN" sz="16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916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 dirty="0" err="1">
                          <a:effectLst/>
                        </a:rPr>
                        <a:t>ItemEvent</a:t>
                      </a:r>
                      <a:endParaRPr lang="en-IN" sz="20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generated when check-box or list item is clicked</a:t>
                      </a:r>
                      <a:endParaRPr lang="en-IN" sz="1800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 err="1">
                          <a:effectLst/>
                        </a:rPr>
                        <a:t>ItemListener</a:t>
                      </a:r>
                      <a:endParaRPr lang="en-IN" sz="16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971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 dirty="0" err="1">
                          <a:effectLst/>
                        </a:rPr>
                        <a:t>TextEvent</a:t>
                      </a:r>
                      <a:endParaRPr lang="en-IN" sz="20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generated when value of </a:t>
                      </a:r>
                      <a:r>
                        <a:rPr lang="en-IN" sz="1800" dirty="0" err="1">
                          <a:effectLst/>
                        </a:rPr>
                        <a:t>textarea</a:t>
                      </a:r>
                      <a:r>
                        <a:rPr lang="en-IN" sz="1800" dirty="0">
                          <a:effectLst/>
                        </a:rPr>
                        <a:t> or </a:t>
                      </a:r>
                      <a:r>
                        <a:rPr lang="en-IN" sz="1800" dirty="0" err="1">
                          <a:effectLst/>
                        </a:rPr>
                        <a:t>textfield</a:t>
                      </a:r>
                      <a:r>
                        <a:rPr lang="en-IN" sz="1800" dirty="0">
                          <a:effectLst/>
                        </a:rPr>
                        <a:t> is changed</a:t>
                      </a:r>
                      <a:endParaRPr lang="en-IN" sz="1800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 err="1">
                          <a:effectLst/>
                        </a:rPr>
                        <a:t>TextListener</a:t>
                      </a:r>
                      <a:endParaRPr lang="en-IN" sz="16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91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 err="1">
                          <a:effectLst/>
                        </a:rPr>
                        <a:t>MouseWheelEvent</a:t>
                      </a:r>
                      <a:endParaRPr lang="en-IN" sz="18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generated when mouse wheel is moved</a:t>
                      </a:r>
                      <a:endParaRPr lang="en-IN" sz="1800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 err="1">
                          <a:effectLst/>
                        </a:rPr>
                        <a:t>MouseWheelListener</a:t>
                      </a:r>
                      <a:endParaRPr lang="en-IN" sz="16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2968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 dirty="0" err="1">
                          <a:effectLst/>
                        </a:rPr>
                        <a:t>WindowEvent</a:t>
                      </a:r>
                      <a:endParaRPr lang="en-IN" sz="20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generated when window is activated, deactivated, </a:t>
                      </a:r>
                      <a:r>
                        <a:rPr lang="en-IN" sz="1800" dirty="0" err="1">
                          <a:effectLst/>
                        </a:rPr>
                        <a:t>deiconified</a:t>
                      </a:r>
                      <a:r>
                        <a:rPr lang="en-IN" sz="1800" dirty="0">
                          <a:effectLst/>
                        </a:rPr>
                        <a:t>, </a:t>
                      </a:r>
                      <a:r>
                        <a:rPr lang="en-IN" sz="1800" dirty="0" err="1">
                          <a:effectLst/>
                        </a:rPr>
                        <a:t>iconified</a:t>
                      </a:r>
                      <a:r>
                        <a:rPr lang="en-IN" sz="1800" dirty="0">
                          <a:effectLst/>
                        </a:rPr>
                        <a:t>, opened or closed</a:t>
                      </a:r>
                      <a:endParaRPr lang="en-IN" sz="1800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 err="1">
                          <a:effectLst/>
                        </a:rPr>
                        <a:t>WindowListener</a:t>
                      </a:r>
                      <a:endParaRPr lang="en-IN" sz="16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8971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 dirty="0" err="1">
                          <a:effectLst/>
                        </a:rPr>
                        <a:t>ComponentEvent</a:t>
                      </a:r>
                      <a:endParaRPr lang="en-IN" sz="20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generated when component is hidden, moved, resized or set visible</a:t>
                      </a:r>
                      <a:endParaRPr lang="en-IN" sz="1800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 err="1">
                          <a:effectLst/>
                        </a:rPr>
                        <a:t>ComponentEventListener</a:t>
                      </a:r>
                      <a:endParaRPr lang="en-IN" sz="16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8971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 dirty="0" err="1">
                          <a:effectLst/>
                        </a:rPr>
                        <a:t>ContainerEvent</a:t>
                      </a:r>
                      <a:endParaRPr lang="en-IN" sz="20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generated when component is added or removed from container</a:t>
                      </a:r>
                      <a:endParaRPr lang="en-IN" sz="1800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 err="1">
                          <a:effectLst/>
                        </a:rPr>
                        <a:t>ContainerListener</a:t>
                      </a:r>
                      <a:endParaRPr lang="en-IN" sz="16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916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 dirty="0" err="1">
                          <a:effectLst/>
                        </a:rPr>
                        <a:t>AdjustmentEvent</a:t>
                      </a:r>
                      <a:endParaRPr lang="en-IN" sz="20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generated when scroll bar is manipulated</a:t>
                      </a:r>
                      <a:endParaRPr lang="en-IN" sz="1800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 err="1">
                          <a:effectLst/>
                        </a:rPr>
                        <a:t>AdjustmentListener</a:t>
                      </a:r>
                      <a:endParaRPr lang="en-IN" sz="16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88971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b="1" dirty="0" err="1">
                          <a:effectLst/>
                        </a:rPr>
                        <a:t>FocusEvent</a:t>
                      </a:r>
                      <a:endParaRPr lang="en-IN" sz="20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generated when component gains or loses keyboard focus</a:t>
                      </a:r>
                      <a:endParaRPr lang="en-IN" sz="1800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dirty="0" err="1">
                          <a:effectLst/>
                        </a:rPr>
                        <a:t>FocusListener</a:t>
                      </a:r>
                      <a:endParaRPr lang="en-IN" sz="1600" b="1" dirty="0"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997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916832"/>
            <a:ext cx="8229600" cy="1665281"/>
          </a:xfrm>
        </p:spPr>
        <p:txBody>
          <a:bodyPr/>
          <a:lstStyle/>
          <a:p>
            <a:r>
              <a:rPr lang="en-IN" b="1" dirty="0"/>
              <a:t>Steps to handle events:</a:t>
            </a:r>
          </a:p>
          <a:p>
            <a:pPr lvl="1"/>
            <a:r>
              <a:rPr lang="en-IN" dirty="0"/>
              <a:t>Implement appropriate interface in the class.</a:t>
            </a:r>
          </a:p>
          <a:p>
            <a:pPr lvl="1"/>
            <a:r>
              <a:rPr lang="en-IN" dirty="0"/>
              <a:t>Register the component with the listener.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958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512" y="-27384"/>
            <a:ext cx="8964488" cy="6786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Registration Methods</a:t>
            </a:r>
          </a:p>
          <a:p>
            <a:r>
              <a:rPr lang="en-IN" sz="2400" dirty="0"/>
              <a:t>For registering the component with the Listener, many classes provide the registration methods. For example:</a:t>
            </a:r>
          </a:p>
          <a:p>
            <a:r>
              <a:rPr lang="en-IN" sz="2400" b="1" dirty="0"/>
              <a:t>Button</a:t>
            </a:r>
            <a:endParaRPr lang="en-IN" sz="2400" dirty="0"/>
          </a:p>
          <a:p>
            <a:pPr lvl="1"/>
            <a:r>
              <a:rPr lang="en-IN" sz="2200" dirty="0"/>
              <a:t>public void </a:t>
            </a:r>
            <a:r>
              <a:rPr lang="en-IN" sz="2200" dirty="0" err="1"/>
              <a:t>addActionListener</a:t>
            </a:r>
            <a:r>
              <a:rPr lang="en-IN" sz="2200" dirty="0"/>
              <a:t>(</a:t>
            </a:r>
            <a:r>
              <a:rPr lang="en-IN" sz="2200" dirty="0" err="1"/>
              <a:t>ActionListener</a:t>
            </a:r>
            <a:r>
              <a:rPr lang="en-IN" sz="2200" dirty="0"/>
              <a:t> a){}</a:t>
            </a:r>
          </a:p>
          <a:p>
            <a:r>
              <a:rPr lang="en-IN" sz="2400" b="1" dirty="0" err="1"/>
              <a:t>MenuItem</a:t>
            </a:r>
            <a:endParaRPr lang="en-IN" sz="2400" dirty="0"/>
          </a:p>
          <a:p>
            <a:pPr lvl="1"/>
            <a:r>
              <a:rPr lang="en-IN" sz="2200" dirty="0"/>
              <a:t>public void </a:t>
            </a:r>
            <a:r>
              <a:rPr lang="en-IN" sz="2200" dirty="0" err="1"/>
              <a:t>addActionListener</a:t>
            </a:r>
            <a:r>
              <a:rPr lang="en-IN" sz="2200" dirty="0"/>
              <a:t>(</a:t>
            </a:r>
            <a:r>
              <a:rPr lang="en-IN" sz="2200" dirty="0" err="1"/>
              <a:t>ActionListener</a:t>
            </a:r>
            <a:r>
              <a:rPr lang="en-IN" sz="2200" dirty="0"/>
              <a:t> a){}</a:t>
            </a:r>
          </a:p>
          <a:p>
            <a:r>
              <a:rPr lang="en-IN" sz="2400" b="1" dirty="0" err="1"/>
              <a:t>TextField</a:t>
            </a:r>
            <a:endParaRPr lang="en-IN" sz="2400" dirty="0"/>
          </a:p>
          <a:p>
            <a:pPr lvl="1"/>
            <a:r>
              <a:rPr lang="en-IN" sz="2200" dirty="0"/>
              <a:t>public void </a:t>
            </a:r>
            <a:r>
              <a:rPr lang="en-IN" sz="2200" dirty="0" err="1"/>
              <a:t>addActionListener</a:t>
            </a:r>
            <a:r>
              <a:rPr lang="en-IN" sz="2200" dirty="0"/>
              <a:t>(</a:t>
            </a:r>
            <a:r>
              <a:rPr lang="en-IN" sz="2200" dirty="0" err="1"/>
              <a:t>ActionListener</a:t>
            </a:r>
            <a:r>
              <a:rPr lang="en-IN" sz="2200" dirty="0"/>
              <a:t> a){}</a:t>
            </a:r>
          </a:p>
          <a:p>
            <a:pPr lvl="1"/>
            <a:r>
              <a:rPr lang="en-IN" sz="2200" dirty="0"/>
              <a:t>public void </a:t>
            </a:r>
            <a:r>
              <a:rPr lang="en-IN" sz="2200" dirty="0" err="1"/>
              <a:t>addTextListener</a:t>
            </a:r>
            <a:r>
              <a:rPr lang="en-IN" sz="2200" dirty="0"/>
              <a:t>(</a:t>
            </a:r>
            <a:r>
              <a:rPr lang="en-IN" sz="2200" dirty="0" err="1"/>
              <a:t>TextListener</a:t>
            </a:r>
            <a:r>
              <a:rPr lang="en-IN" sz="2200" dirty="0"/>
              <a:t> a){}</a:t>
            </a:r>
          </a:p>
          <a:p>
            <a:r>
              <a:rPr lang="en-IN" sz="2400" b="1" dirty="0" err="1"/>
              <a:t>TextArea</a:t>
            </a:r>
            <a:endParaRPr lang="en-IN" sz="2400" dirty="0"/>
          </a:p>
          <a:p>
            <a:pPr lvl="1"/>
            <a:r>
              <a:rPr lang="en-IN" sz="2200" dirty="0"/>
              <a:t>public void </a:t>
            </a:r>
            <a:r>
              <a:rPr lang="en-IN" sz="2200" dirty="0" err="1"/>
              <a:t>addTextListener</a:t>
            </a:r>
            <a:r>
              <a:rPr lang="en-IN" sz="2200" dirty="0"/>
              <a:t>(</a:t>
            </a:r>
            <a:r>
              <a:rPr lang="en-IN" sz="2200" dirty="0" err="1"/>
              <a:t>TextListener</a:t>
            </a:r>
            <a:r>
              <a:rPr lang="en-IN" sz="2200" dirty="0"/>
              <a:t> a){}</a:t>
            </a:r>
          </a:p>
          <a:p>
            <a:r>
              <a:rPr lang="en-IN" sz="2400" b="1" dirty="0"/>
              <a:t>Checkbox</a:t>
            </a:r>
            <a:endParaRPr lang="en-IN" sz="2400" dirty="0"/>
          </a:p>
          <a:p>
            <a:pPr lvl="1"/>
            <a:r>
              <a:rPr lang="en-IN" sz="2200" dirty="0"/>
              <a:t>public void </a:t>
            </a:r>
            <a:r>
              <a:rPr lang="en-IN" sz="2200" dirty="0" err="1"/>
              <a:t>addItemListener</a:t>
            </a:r>
            <a:r>
              <a:rPr lang="en-IN" sz="2200" dirty="0"/>
              <a:t>(</a:t>
            </a:r>
            <a:r>
              <a:rPr lang="en-IN" sz="2200" dirty="0" err="1"/>
              <a:t>ItemListener</a:t>
            </a:r>
            <a:r>
              <a:rPr lang="en-IN" sz="2200" dirty="0"/>
              <a:t> a){}</a:t>
            </a:r>
          </a:p>
          <a:p>
            <a:r>
              <a:rPr lang="en-IN" sz="2400" b="1" dirty="0"/>
              <a:t>Choice</a:t>
            </a:r>
            <a:endParaRPr lang="en-IN" sz="2400" dirty="0"/>
          </a:p>
          <a:p>
            <a:pPr lvl="1"/>
            <a:r>
              <a:rPr lang="en-IN" sz="2200" dirty="0"/>
              <a:t>public void </a:t>
            </a:r>
            <a:r>
              <a:rPr lang="en-IN" sz="2200" dirty="0" err="1"/>
              <a:t>addItemListener</a:t>
            </a:r>
            <a:r>
              <a:rPr lang="en-IN" sz="2200" dirty="0"/>
              <a:t>(</a:t>
            </a:r>
            <a:r>
              <a:rPr lang="en-IN" sz="2200" dirty="0" err="1"/>
              <a:t>ItemListener</a:t>
            </a:r>
            <a:r>
              <a:rPr lang="en-IN" sz="2200" dirty="0"/>
              <a:t> a){}</a:t>
            </a:r>
          </a:p>
          <a:p>
            <a:r>
              <a:rPr lang="en-IN" sz="2400" b="1" dirty="0"/>
              <a:t>List</a:t>
            </a:r>
            <a:endParaRPr lang="en-IN" sz="2400" dirty="0"/>
          </a:p>
          <a:p>
            <a:pPr lvl="1"/>
            <a:r>
              <a:rPr lang="en-IN" sz="2200" dirty="0"/>
              <a:t>public void </a:t>
            </a:r>
            <a:r>
              <a:rPr lang="en-IN" sz="2200" dirty="0" err="1"/>
              <a:t>addActionListener</a:t>
            </a:r>
            <a:r>
              <a:rPr lang="en-IN" sz="2200" dirty="0"/>
              <a:t>(</a:t>
            </a:r>
            <a:r>
              <a:rPr lang="en-IN" sz="2200" dirty="0" err="1"/>
              <a:t>ActionListener</a:t>
            </a:r>
            <a:r>
              <a:rPr lang="en-IN" sz="2200" dirty="0"/>
              <a:t> a){}</a:t>
            </a:r>
          </a:p>
          <a:p>
            <a:pPr lvl="1"/>
            <a:r>
              <a:rPr lang="en-IN" sz="2200" dirty="0"/>
              <a:t>public void </a:t>
            </a:r>
            <a:r>
              <a:rPr lang="en-IN" sz="2200" dirty="0" err="1"/>
              <a:t>addItemListener</a:t>
            </a:r>
            <a:r>
              <a:rPr lang="en-IN" sz="2200" dirty="0"/>
              <a:t>(</a:t>
            </a:r>
            <a:r>
              <a:rPr lang="en-IN" sz="2200" dirty="0" err="1"/>
              <a:t>ItemListener</a:t>
            </a:r>
            <a:r>
              <a:rPr lang="en-IN" sz="2200" dirty="0"/>
              <a:t> a){}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411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14290"/>
            <a:ext cx="8458200" cy="331788"/>
          </a:xfrm>
        </p:spPr>
        <p:txBody>
          <a:bodyPr>
            <a:normAutofit fontScale="90000"/>
          </a:bodyPr>
          <a:lstStyle/>
          <a:p>
            <a:r>
              <a:rPr lang="en-US" sz="3800" b="1" dirty="0" err="1"/>
              <a:t>ActionEvent</a:t>
            </a:r>
            <a:endParaRPr lang="en-US" sz="3800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1036" y="685800"/>
            <a:ext cx="9144000" cy="617220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An </a:t>
            </a:r>
            <a:r>
              <a:rPr lang="en-US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ActionEvent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 is generated when a button is pressed, a list item is double-clicked, or a menu item is selected.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ActionEvent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class defines four integer constants that are used to identify modifiers associated with an action event: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public static final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ALT_MASK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alt modifier. </a:t>
            </a:r>
          </a:p>
          <a:p>
            <a:pPr lvl="1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 indicator that the alt key was held down during the event.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public static final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SHIFT_MASK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shift modifier. </a:t>
            </a:r>
          </a:p>
          <a:p>
            <a:pPr lvl="1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 indicator that the shift key was held down during the event.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public static final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CTRL_MASK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control modifier. </a:t>
            </a:r>
          </a:p>
          <a:p>
            <a:pPr lvl="1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 indicator that control key was held down during the event.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public static final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META_MASK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meta modifier. </a:t>
            </a:r>
          </a:p>
          <a:p>
            <a:pPr lvl="1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 indicator that the meta key was held down during the event. (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The 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Meta key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 is a modifier key on certain </a:t>
            </a: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</a:rPr>
              <a:t>keyboards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Constructor-1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100" b="1" dirty="0">
                <a:latin typeface="Cambria" panose="02040503050406030204" pitchFamily="18" charset="0"/>
                <a:ea typeface="Cambria" panose="02040503050406030204" pitchFamily="18" charset="0"/>
              </a:rPr>
              <a:t>public </a:t>
            </a:r>
            <a:r>
              <a:rPr lang="en-US" sz="2100" b="1" dirty="0" err="1">
                <a:latin typeface="Cambria" panose="02040503050406030204" pitchFamily="18" charset="0"/>
                <a:ea typeface="Cambria" panose="02040503050406030204" pitchFamily="18" charset="0"/>
              </a:rPr>
              <a:t>ActionEvent</a:t>
            </a:r>
            <a:r>
              <a:rPr lang="en-US" sz="2100" b="1" dirty="0">
                <a:latin typeface="Cambria" panose="02040503050406030204" pitchFamily="18" charset="0"/>
                <a:ea typeface="Cambria" panose="02040503050406030204" pitchFamily="18" charset="0"/>
              </a:rPr>
              <a:t>(Object </a:t>
            </a:r>
            <a:r>
              <a:rPr lang="en-US" sz="2100" b="1" dirty="0" err="1">
                <a:latin typeface="Cambria" panose="02040503050406030204" pitchFamily="18" charset="0"/>
                <a:ea typeface="Cambria" panose="02040503050406030204" pitchFamily="18" charset="0"/>
              </a:rPr>
              <a:t>source,int</a:t>
            </a:r>
            <a:r>
              <a:rPr lang="en-US" sz="2100" b="1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100" b="1" dirty="0" err="1">
                <a:latin typeface="Cambria" panose="02040503050406030204" pitchFamily="18" charset="0"/>
                <a:ea typeface="Cambria" panose="02040503050406030204" pitchFamily="18" charset="0"/>
              </a:rPr>
              <a:t>id,String</a:t>
            </a:r>
            <a:r>
              <a:rPr lang="en-US" sz="2100" b="1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US" sz="2100" b="1" dirty="0" err="1">
                <a:latin typeface="Cambria" panose="02040503050406030204" pitchFamily="18" charset="0"/>
                <a:ea typeface="Cambria" panose="02040503050406030204" pitchFamily="18" charset="0"/>
              </a:rPr>
              <a:t>command,int</a:t>
            </a:r>
            <a:r>
              <a:rPr lang="en-US" sz="2100" b="1" dirty="0">
                <a:latin typeface="Cambria" panose="02040503050406030204" pitchFamily="18" charset="0"/>
                <a:ea typeface="Cambria" panose="02040503050406030204" pitchFamily="18" charset="0"/>
              </a:rPr>
              <a:t> modifiers)</a:t>
            </a:r>
          </a:p>
          <a:p>
            <a:pPr marL="0" indent="0">
              <a:lnSpc>
                <a:spcPct val="90000"/>
              </a:lnSpc>
              <a:buNone/>
            </a:pP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Constructs an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ActionEvent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object with modifier keys. </a:t>
            </a:r>
            <a:endParaRPr lang="en-US" sz="2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Parameters: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source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- the object that originated the event </a:t>
            </a:r>
          </a:p>
          <a:p>
            <a:pPr lvl="1">
              <a:lnSpc>
                <a:spcPct val="90000"/>
              </a:lnSpc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id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- an integer that identifies the event </a:t>
            </a:r>
          </a:p>
          <a:p>
            <a:pPr lvl="1">
              <a:lnSpc>
                <a:spcPct val="90000"/>
              </a:lnSpc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command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- a string that may specify a command (possibly one of several) 	associated with the event </a:t>
            </a:r>
          </a:p>
          <a:p>
            <a:pPr lvl="1">
              <a:lnSpc>
                <a:spcPct val="90000"/>
              </a:lnSpc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modifiers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- the modifier keys held down during this action </a:t>
            </a:r>
            <a:endParaRPr lang="en-US" sz="2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24</a:t>
            </a:fld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3528" y="1148387"/>
            <a:ext cx="8496944" cy="541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1" dirty="0"/>
              <a:t>public </a:t>
            </a:r>
            <a:r>
              <a:rPr lang="en-US" sz="2400" b="1" dirty="0" err="1"/>
              <a:t>ActionEvent</a:t>
            </a:r>
            <a:r>
              <a:rPr lang="en-US" sz="2400" b="1" dirty="0"/>
              <a:t>(Object </a:t>
            </a:r>
            <a:r>
              <a:rPr lang="en-US" sz="2400" b="1" dirty="0" err="1"/>
              <a:t>source,int</a:t>
            </a:r>
            <a:r>
              <a:rPr lang="en-US" sz="2400" b="1" dirty="0"/>
              <a:t> </a:t>
            </a:r>
            <a:r>
              <a:rPr lang="en-US" sz="2400" b="1" dirty="0" err="1"/>
              <a:t>id,String</a:t>
            </a:r>
            <a:r>
              <a:rPr lang="en-US" sz="2400" b="1" dirty="0"/>
              <a:t> </a:t>
            </a:r>
            <a:r>
              <a:rPr lang="en-US" sz="2400" b="1" dirty="0" err="1"/>
              <a:t>command,long</a:t>
            </a:r>
            <a:r>
              <a:rPr lang="en-US" sz="2400" b="1" dirty="0"/>
              <a:t> when, </a:t>
            </a:r>
            <a:r>
              <a:rPr lang="en-US" sz="2400" b="1" dirty="0" err="1"/>
              <a:t>int</a:t>
            </a:r>
            <a:r>
              <a:rPr lang="en-US" sz="2400" b="1" dirty="0"/>
              <a:t> modifiers)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/>
              <a:t>Constructs an </a:t>
            </a:r>
            <a:r>
              <a:rPr lang="en-US" sz="2400" dirty="0" err="1"/>
              <a:t>ActionEvent</a:t>
            </a:r>
            <a:r>
              <a:rPr lang="en-US" sz="2400" dirty="0"/>
              <a:t> object with the specified modifier keys and timestamp. </a:t>
            </a:r>
          </a:p>
          <a:p>
            <a:pPr lvl="1">
              <a:lnSpc>
                <a:spcPct val="90000"/>
              </a:lnSpc>
            </a:pPr>
            <a:r>
              <a:rPr lang="en-US" sz="2400" b="1" dirty="0"/>
              <a:t>Parameters:</a:t>
            </a:r>
            <a:r>
              <a:rPr lang="en-US" sz="2400" dirty="0"/>
              <a:t> </a:t>
            </a:r>
            <a:r>
              <a:rPr lang="en-US" sz="2400" b="1" dirty="0"/>
              <a:t>source</a:t>
            </a:r>
            <a:r>
              <a:rPr lang="en-US" sz="2400" dirty="0"/>
              <a:t> - the object that originated the event 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b="1" dirty="0"/>
              <a:t>id</a:t>
            </a:r>
            <a:r>
              <a:rPr lang="en-US" sz="2400" dirty="0"/>
              <a:t> - an integer that identifies the event 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b="1" dirty="0"/>
              <a:t>command</a:t>
            </a:r>
            <a:r>
              <a:rPr lang="en-US" sz="2400" dirty="0"/>
              <a:t> - a string that may specify a command (possibly one of several) 	associated with the event 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b="1" dirty="0"/>
              <a:t>when</a:t>
            </a:r>
            <a:r>
              <a:rPr lang="en-US" sz="2400" dirty="0"/>
              <a:t> - the time the event occurred 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b="1" dirty="0"/>
              <a:t>modifiers</a:t>
            </a:r>
            <a:r>
              <a:rPr lang="en-US" sz="2400" dirty="0"/>
              <a:t> - the modifier keys held down during this action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Constructor-2</a:t>
            </a:r>
          </a:p>
        </p:txBody>
      </p:sp>
    </p:spTree>
    <p:extLst>
      <p:ext uri="{BB962C8B-B14F-4D97-AF65-F5344CB8AC3E}">
        <p14:creationId xmlns:p14="http://schemas.microsoft.com/office/powerpoint/2010/main" val="1163919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60387"/>
          </a:xfrm>
        </p:spPr>
        <p:txBody>
          <a:bodyPr>
            <a:normAutofit fontScale="90000"/>
          </a:bodyPr>
          <a:lstStyle/>
          <a:p>
            <a:r>
              <a:rPr lang="en-US" sz="3800" b="1"/>
              <a:t>Methods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71546"/>
            <a:ext cx="8229600" cy="559781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public String </a:t>
            </a:r>
            <a:r>
              <a:rPr lang="en-US" b="1" dirty="0" err="1"/>
              <a:t>getActionCommand</a:t>
            </a:r>
            <a:r>
              <a:rPr lang="en-US" b="1" dirty="0"/>
              <a:t>()</a:t>
            </a:r>
            <a:endParaRPr lang="en-US" dirty="0"/>
          </a:p>
          <a:p>
            <a:pPr lvl="1"/>
            <a:r>
              <a:rPr lang="en-US" dirty="0"/>
              <a:t>Returns the command string associated with this action. </a:t>
            </a:r>
          </a:p>
          <a:p>
            <a:pPr lvl="1"/>
            <a:endParaRPr lang="en-US" sz="1500" b="1" dirty="0"/>
          </a:p>
          <a:p>
            <a:r>
              <a:rPr lang="en-US" b="1" dirty="0"/>
              <a:t>public long </a:t>
            </a:r>
            <a:r>
              <a:rPr lang="en-US" b="1" dirty="0" err="1"/>
              <a:t>getWhen</a:t>
            </a:r>
            <a:r>
              <a:rPr lang="en-US" b="1" dirty="0"/>
              <a:t>()</a:t>
            </a:r>
            <a:endParaRPr lang="en-US" dirty="0"/>
          </a:p>
          <a:p>
            <a:pPr lvl="1"/>
            <a:r>
              <a:rPr lang="en-US" dirty="0"/>
              <a:t>Returns the timestamp of when this event occurred. </a:t>
            </a:r>
          </a:p>
          <a:p>
            <a:pPr lvl="1"/>
            <a:endParaRPr lang="en-US" sz="1700" dirty="0"/>
          </a:p>
          <a:p>
            <a:r>
              <a:rPr lang="en-IN" b="1" dirty="0" err="1"/>
              <a:t>int</a:t>
            </a:r>
            <a:r>
              <a:rPr lang="en-IN" b="1" dirty="0"/>
              <a:t> </a:t>
            </a:r>
            <a:r>
              <a:rPr lang="en-IN" b="1" dirty="0" err="1"/>
              <a:t>getModifiers</a:t>
            </a:r>
            <a:r>
              <a:rPr lang="en-IN" b="1" dirty="0"/>
              <a:t>()</a:t>
            </a:r>
            <a:endParaRPr lang="en-IN" dirty="0"/>
          </a:p>
          <a:p>
            <a:pPr lvl="1"/>
            <a:r>
              <a:rPr lang="en-IN" dirty="0"/>
              <a:t>Returns the modifier keys held down during this action event.</a:t>
            </a:r>
          </a:p>
          <a:p>
            <a:pPr lvl="1"/>
            <a:endParaRPr lang="en-IN" sz="1700" dirty="0"/>
          </a:p>
          <a:p>
            <a:r>
              <a:rPr lang="en-IN" b="1" dirty="0"/>
              <a:t>String </a:t>
            </a:r>
            <a:r>
              <a:rPr lang="en-IN" b="1" dirty="0" err="1"/>
              <a:t>paramString</a:t>
            </a:r>
            <a:r>
              <a:rPr lang="en-IN" b="1" dirty="0"/>
              <a:t>()</a:t>
            </a:r>
            <a:endParaRPr lang="en-IN" dirty="0"/>
          </a:p>
          <a:p>
            <a:pPr lvl="1"/>
            <a:r>
              <a:rPr lang="en-IN" dirty="0"/>
              <a:t>Returns a parameter string identifying this action event.</a:t>
            </a:r>
          </a:p>
          <a:p>
            <a:pPr lvl="1">
              <a:buNone/>
            </a:pPr>
            <a:endParaRPr lang="en-IN" dirty="0"/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26</a:t>
            </a:fld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60387"/>
          </a:xfrm>
        </p:spPr>
        <p:txBody>
          <a:bodyPr>
            <a:normAutofit fontScale="90000"/>
          </a:bodyPr>
          <a:lstStyle/>
          <a:p>
            <a:r>
              <a:rPr lang="en-US" sz="3800" b="1"/>
              <a:t>ActionListener Interface</a:t>
            </a:r>
            <a:endParaRPr lang="en-US" sz="380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458200" cy="4724400"/>
          </a:xfrm>
        </p:spPr>
        <p:txBody>
          <a:bodyPr/>
          <a:lstStyle/>
          <a:p>
            <a:r>
              <a:rPr lang="en-US" dirty="0"/>
              <a:t>This interface defines the </a:t>
            </a:r>
            <a:r>
              <a:rPr lang="en-US" dirty="0" err="1"/>
              <a:t>actionPerformed</a:t>
            </a:r>
            <a:r>
              <a:rPr lang="en-US" dirty="0"/>
              <a:t>() method that is invoked when an action event occurs. </a:t>
            </a:r>
          </a:p>
          <a:p>
            <a:r>
              <a:rPr lang="en-US" dirty="0"/>
              <a:t>Its general form is shown here:</a:t>
            </a:r>
          </a:p>
          <a:p>
            <a:pPr lvl="1"/>
            <a:r>
              <a:rPr lang="en-US" b="1" dirty="0"/>
              <a:t>void </a:t>
            </a:r>
            <a:r>
              <a:rPr lang="en-US" b="1" dirty="0" err="1"/>
              <a:t>actionPerformed</a:t>
            </a:r>
            <a:r>
              <a:rPr lang="en-US" b="1" dirty="0"/>
              <a:t>(</a:t>
            </a:r>
            <a:r>
              <a:rPr lang="en-US" b="1" dirty="0" err="1"/>
              <a:t>ActionEvent</a:t>
            </a:r>
            <a:r>
              <a:rPr lang="en-US" b="1" dirty="0"/>
              <a:t> </a:t>
            </a:r>
            <a:r>
              <a:rPr lang="en-US" b="1" dirty="0" err="1"/>
              <a:t>ae</a:t>
            </a:r>
            <a:r>
              <a:rPr lang="en-US" b="1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27</a:t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407987"/>
          </a:xfrm>
        </p:spPr>
        <p:txBody>
          <a:bodyPr>
            <a:normAutofit fontScale="90000"/>
          </a:bodyPr>
          <a:lstStyle/>
          <a:p>
            <a:r>
              <a:rPr lang="en-US" sz="3800" b="1" dirty="0" err="1"/>
              <a:t>ItemEvent</a:t>
            </a:r>
            <a:r>
              <a:rPr lang="en-US" sz="3800" b="1" dirty="0"/>
              <a:t> class</a:t>
            </a:r>
            <a:r>
              <a:rPr lang="en-US" sz="3800" dirty="0"/>
              <a:t>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507288" cy="5486400"/>
          </a:xfrm>
        </p:spPr>
        <p:txBody>
          <a:bodyPr/>
          <a:lstStyle/>
          <a:p>
            <a:r>
              <a:rPr lang="en-US" sz="2600" dirty="0"/>
              <a:t>A semantic event which indicates that an </a:t>
            </a:r>
            <a:r>
              <a:rPr lang="en-US" sz="2600" b="1" dirty="0"/>
              <a:t>item was selected or deselected. </a:t>
            </a:r>
          </a:p>
          <a:p>
            <a:r>
              <a:rPr lang="en-US" sz="2600" dirty="0"/>
              <a:t>This high-level event is generated by an </a:t>
            </a:r>
            <a:r>
              <a:rPr lang="en-US" sz="2600" dirty="0" err="1"/>
              <a:t>ItemSelectable</a:t>
            </a:r>
            <a:r>
              <a:rPr lang="en-US" sz="2600" dirty="0"/>
              <a:t> object (such as a List) when an item is selected or deselected by the user. </a:t>
            </a:r>
          </a:p>
          <a:p>
            <a:r>
              <a:rPr lang="en-US" sz="2600" dirty="0"/>
              <a:t>This class has following </a:t>
            </a:r>
            <a:r>
              <a:rPr lang="en-US" sz="2600" b="1" dirty="0"/>
              <a:t>constants.</a:t>
            </a:r>
          </a:p>
          <a:p>
            <a:r>
              <a:rPr lang="en-US" sz="2600" b="1" dirty="0"/>
              <a:t>public static final </a:t>
            </a:r>
            <a:r>
              <a:rPr lang="en-US" sz="2600" b="1" dirty="0" err="1"/>
              <a:t>int</a:t>
            </a:r>
            <a:r>
              <a:rPr lang="en-US" sz="2600" b="1" dirty="0"/>
              <a:t> SELECTED</a:t>
            </a:r>
            <a:endParaRPr lang="en-US" sz="2600" dirty="0"/>
          </a:p>
          <a:p>
            <a:pPr lvl="1"/>
            <a:r>
              <a:rPr lang="en-US" dirty="0"/>
              <a:t>This state-change value indicates that an item was selected. </a:t>
            </a:r>
            <a:endParaRPr lang="en-US" b="1" dirty="0"/>
          </a:p>
          <a:p>
            <a:r>
              <a:rPr lang="en-US" sz="2600" b="1" dirty="0"/>
              <a:t>public static final </a:t>
            </a:r>
            <a:r>
              <a:rPr lang="en-US" sz="2600" b="1" dirty="0" err="1"/>
              <a:t>int</a:t>
            </a:r>
            <a:r>
              <a:rPr lang="en-US" sz="2600" b="1" dirty="0"/>
              <a:t> DESELECTED</a:t>
            </a:r>
            <a:endParaRPr lang="en-US" sz="2600" dirty="0"/>
          </a:p>
          <a:p>
            <a:pPr lvl="1"/>
            <a:r>
              <a:rPr lang="en-US" dirty="0"/>
              <a:t>This state-change-value indicates that a selected item was deselected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28</a:t>
            </a:fld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533400"/>
            <a:ext cx="8763000" cy="5943600"/>
          </a:xfrm>
        </p:spPr>
        <p:txBody>
          <a:bodyPr/>
          <a:lstStyle/>
          <a:p>
            <a:r>
              <a:rPr lang="en-US" sz="2600" b="1"/>
              <a:t>public ItemEvent (ItemSelectable source, int id, Object item, int stateChange)</a:t>
            </a:r>
            <a:endParaRPr lang="en-US" sz="2600"/>
          </a:p>
          <a:p>
            <a:pPr lvl="1"/>
            <a:r>
              <a:rPr lang="en-US"/>
              <a:t>Constructs an ItemEvent object. </a:t>
            </a:r>
            <a:endParaRPr lang="en-US" b="1"/>
          </a:p>
          <a:p>
            <a:pPr lvl="1"/>
            <a:r>
              <a:rPr lang="en-US" b="1"/>
              <a:t>Parameters:</a:t>
            </a:r>
            <a:r>
              <a:rPr lang="en-US"/>
              <a:t> </a:t>
            </a:r>
          </a:p>
          <a:p>
            <a:pPr lvl="1"/>
            <a:r>
              <a:rPr lang="en-US" b="1"/>
              <a:t>source</a:t>
            </a:r>
            <a:r>
              <a:rPr lang="en-US"/>
              <a:t> - the ItemSelectable object that originated the event </a:t>
            </a:r>
          </a:p>
          <a:p>
            <a:pPr lvl="1"/>
            <a:r>
              <a:rPr lang="en-US" b="1"/>
              <a:t>id</a:t>
            </a:r>
            <a:r>
              <a:rPr lang="en-US"/>
              <a:t> - an integer that identifies the event type </a:t>
            </a:r>
          </a:p>
          <a:p>
            <a:pPr lvl="1"/>
            <a:r>
              <a:rPr lang="en-US" b="1"/>
              <a:t>item</a:t>
            </a:r>
            <a:r>
              <a:rPr lang="en-US"/>
              <a:t> - an object -- the item affected by the event </a:t>
            </a:r>
          </a:p>
          <a:p>
            <a:pPr lvl="1"/>
            <a:r>
              <a:rPr lang="en-US" b="1"/>
              <a:t>stateChange</a:t>
            </a:r>
            <a:r>
              <a:rPr lang="en-US"/>
              <a:t> - an integer that indicates whether the item was selected or deselected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29</a:t>
            </a:fld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>
            <a:normAutofit fontScale="90000"/>
          </a:bodyPr>
          <a:lstStyle/>
          <a:p>
            <a:r>
              <a:rPr lang="en-US" sz="3800" b="1"/>
              <a:t>Methods of ItemEvent Class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610600" cy="5486400"/>
          </a:xfrm>
        </p:spPr>
        <p:txBody>
          <a:bodyPr/>
          <a:lstStyle/>
          <a:p>
            <a:r>
              <a:rPr lang="en-US" sz="2600" b="1"/>
              <a:t>public ItemSelectable getItemSelectable()</a:t>
            </a:r>
            <a:endParaRPr lang="en-US" sz="2600"/>
          </a:p>
          <a:p>
            <a:pPr lvl="1"/>
            <a:r>
              <a:rPr lang="en-US" sz="2200"/>
              <a:t>Returns the creator of the event. </a:t>
            </a:r>
            <a:endParaRPr lang="en-US" sz="2200" b="1"/>
          </a:p>
          <a:p>
            <a:pPr lvl="1"/>
            <a:r>
              <a:rPr lang="en-US" sz="2200" b="1"/>
              <a:t>Returns:</a:t>
            </a:r>
            <a:r>
              <a:rPr lang="en-US" sz="2200"/>
              <a:t> the ItemSelectable object that originated the event.</a:t>
            </a:r>
          </a:p>
          <a:p>
            <a:r>
              <a:rPr lang="en-US" sz="2600" b="1"/>
              <a:t>public Object getItem()</a:t>
            </a:r>
            <a:endParaRPr lang="en-US" sz="2600"/>
          </a:p>
          <a:p>
            <a:pPr lvl="1"/>
            <a:r>
              <a:rPr lang="en-US" sz="2200"/>
              <a:t>Returns the item affected by the event. </a:t>
            </a:r>
            <a:endParaRPr lang="en-US" sz="2200" b="1"/>
          </a:p>
          <a:p>
            <a:pPr lvl="1"/>
            <a:r>
              <a:rPr lang="en-US" sz="2200" b="1"/>
              <a:t>Returns:</a:t>
            </a:r>
            <a:r>
              <a:rPr lang="en-US" sz="2200"/>
              <a:t> the item (object) that was affected by the event.</a:t>
            </a:r>
          </a:p>
          <a:p>
            <a:r>
              <a:rPr lang="en-US" sz="2600" b="1"/>
              <a:t>public int getStateChange()</a:t>
            </a:r>
            <a:endParaRPr lang="en-US" sz="2600"/>
          </a:p>
          <a:p>
            <a:pPr lvl="1"/>
            <a:r>
              <a:rPr lang="en-US" sz="2200"/>
              <a:t>Returns the type of state change (selected or deselected). </a:t>
            </a:r>
            <a:endParaRPr lang="en-US" sz="2200" b="1"/>
          </a:p>
          <a:p>
            <a:pPr lvl="1"/>
            <a:r>
              <a:rPr lang="en-US" sz="2200" b="1"/>
              <a:t>Returns:</a:t>
            </a:r>
            <a:r>
              <a:rPr lang="en-US" sz="2200"/>
              <a:t> an integer that indicates whether the item was selected or deselected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30</a:t>
            </a:fld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60387"/>
          </a:xfrm>
        </p:spPr>
        <p:txBody>
          <a:bodyPr>
            <a:normAutofit fontScale="90000"/>
          </a:bodyPr>
          <a:lstStyle/>
          <a:p>
            <a:r>
              <a:rPr lang="en-US" sz="3800" b="1"/>
              <a:t>ItemListener interface</a:t>
            </a:r>
            <a:r>
              <a:rPr lang="en-US" sz="3800"/>
              <a:t> 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181600"/>
          </a:xfrm>
        </p:spPr>
        <p:txBody>
          <a:bodyPr/>
          <a:lstStyle/>
          <a:p>
            <a:r>
              <a:rPr lang="en-US" dirty="0"/>
              <a:t>The listener interface for receiving item events.</a:t>
            </a:r>
          </a:p>
          <a:p>
            <a:endParaRPr lang="en-US" dirty="0"/>
          </a:p>
          <a:p>
            <a:r>
              <a:rPr lang="en-US" b="1" dirty="0"/>
              <a:t>void </a:t>
            </a:r>
            <a:r>
              <a:rPr lang="en-US" b="1" dirty="0" err="1"/>
              <a:t>itemStateChanged</a:t>
            </a:r>
            <a:r>
              <a:rPr lang="en-US" b="1" dirty="0"/>
              <a:t>(</a:t>
            </a:r>
            <a:r>
              <a:rPr lang="en-US" b="1" dirty="0" err="1"/>
              <a:t>ItemEvent</a:t>
            </a:r>
            <a:r>
              <a:rPr lang="en-US" b="1" dirty="0"/>
              <a:t> e)</a:t>
            </a:r>
            <a:endParaRPr lang="en-US" dirty="0"/>
          </a:p>
          <a:p>
            <a:r>
              <a:rPr lang="en-US" dirty="0"/>
              <a:t>Invoked when an item has been selected or deselected by the user. </a:t>
            </a:r>
          </a:p>
          <a:p>
            <a:r>
              <a:rPr lang="en-US" dirty="0"/>
              <a:t>The code written for this method performs the operations that need to occur when an item is selected (or deselected).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31</a:t>
            </a:fld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60387"/>
          </a:xfrm>
        </p:spPr>
        <p:txBody>
          <a:bodyPr>
            <a:normAutofit fontScale="90000"/>
          </a:bodyPr>
          <a:lstStyle/>
          <a:p>
            <a:r>
              <a:rPr lang="en-US" sz="3800" b="1" dirty="0" err="1"/>
              <a:t>KeyEvent</a:t>
            </a:r>
            <a:r>
              <a:rPr lang="en-US" sz="3800" b="1" dirty="0"/>
              <a:t> class</a:t>
            </a:r>
            <a:r>
              <a:rPr lang="en-US" sz="3800" dirty="0"/>
              <a:t>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668072" cy="5715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 event which indicates that a keystroke occurred in a component. 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This class has following constant.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public static final </a:t>
            </a:r>
            <a:r>
              <a:rPr lang="en-US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 KEY_PRESSED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event is generated when a key is pushed down.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public static final </a:t>
            </a:r>
            <a:r>
              <a:rPr lang="en-US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 KEY_RELEASED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event is generated when a key is let up. 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public static final </a:t>
            </a:r>
            <a:r>
              <a:rPr lang="en-US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 KEY_TYPED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event is generated when a character is entered. In the simplest case, it is produced by a single key press. Often, however, characters are produced by series of key presses, and the mapping from key pressed events to key typed events may be many-to-one or many-to-many.</a:t>
            </a: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32</a:t>
            </a:fld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8686800" cy="6248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There are many other integer constants that are defined by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KeyEvent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For example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VK_0 to VK_9 </a:t>
            </a:r>
          </a:p>
          <a:p>
            <a:pPr lvl="1">
              <a:lnSpc>
                <a:spcPct val="9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VK_A to VK_Z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define the ASCII equivalents of the numbers and letters. </a:t>
            </a:r>
          </a:p>
          <a:p>
            <a:pPr lvl="1">
              <a:lnSpc>
                <a:spcPct val="90000"/>
              </a:lnSpc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Here are some others: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VK_ENTER, VK_ESCAPE, VK_CANCEL, VK_UP, VK_DOWN, VK_LEFT, VK_RIGHT, VK_PAGE_DOWN,VK_PAGE_UP, VK_SHIFT, VK_ALT, VK_CONTROL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VK constants specify virtual key codes and are independent of any modifiers, such as control, shift, or alt.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33</a:t>
            </a:fld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>
            <a:normAutofit fontScale="90000"/>
          </a:bodyPr>
          <a:lstStyle/>
          <a:p>
            <a:r>
              <a:rPr lang="en-US" sz="3800" b="1">
                <a:latin typeface="Cambria" panose="02040503050406030204" pitchFamily="18" charset="0"/>
                <a:ea typeface="Cambria" panose="02040503050406030204" pitchFamily="18" charset="0"/>
              </a:rPr>
              <a:t>Methods of KeyEvent class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public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getKeyCode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Returns the integer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keyCode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associated with the key in this event. 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Returns: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the integer code for an actual key on the keyboard. 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public char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getKeyChar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Returns the character associated with the key in this event. 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For example, the KEY_TYPED event for shift + "a" returns the value for "A". 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200" b="1" dirty="0" err="1">
                <a:latin typeface="Cambria" panose="02040503050406030204" pitchFamily="18" charset="0"/>
                <a:ea typeface="Cambria" panose="02040503050406030204" pitchFamily="18" charset="0"/>
              </a:rPr>
              <a:t>boolean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 dirty="0" err="1">
                <a:latin typeface="Cambria" panose="02040503050406030204" pitchFamily="18" charset="0"/>
                <a:ea typeface="Cambria" panose="02040503050406030204" pitchFamily="18" charset="0"/>
              </a:rPr>
              <a:t>isActionKey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pPr lvl="1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Returns true if the key firing the event is an action key. Examples of action keys include Page Up, Caps Lock, the arrow and function keys.</a:t>
            </a:r>
          </a:p>
          <a:p>
            <a:pPr marL="742950" lvl="2" indent="-34290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pPr/>
              <a:t>34</a:t>
            </a:fld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2920" y="0"/>
            <a:ext cx="8183880" cy="1051560"/>
          </a:xfrm>
        </p:spPr>
        <p:txBody>
          <a:bodyPr/>
          <a:lstStyle/>
          <a:p>
            <a:pPr algn="ctr"/>
            <a:r>
              <a:rPr lang="en-US" b="1" dirty="0" err="1">
                <a:effectLst/>
                <a:latin typeface="Times New Roman" pitchFamily="18" charset="0"/>
                <a:cs typeface="Times New Roman" pitchFamily="18" charset="0"/>
              </a:rPr>
              <a:t>KeyListener</a:t>
            </a:r>
            <a:r>
              <a:rPr lang="en-US" b="1" dirty="0">
                <a:effectLst/>
                <a:latin typeface="Times New Roman" pitchFamily="18" charset="0"/>
                <a:cs typeface="Times New Roman" pitchFamily="18" charset="0"/>
              </a:rPr>
              <a:t> Interface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25780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Key events indicate when the user is typing at the keyboard.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Key events are fired by the component with the keyboard focus when the user presses or releases keyboard keys.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Notifications are sent about two basic kinds of key events: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typing of a Unicode character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pressing or releasing of a key on the keyboard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35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2578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first kind of event is called a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key-typed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event. </a:t>
            </a: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know when the user types a Unicode character ? whether by pressing one key such as 'a' or by pressing several keys in sequence ?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second kind is either a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key-pressed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key-released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event.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know when the user presses the F1 key, or whether the user pressed the '3' key on the number pad, you handle key-pressed events.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36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2920" y="243840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ffectLst/>
                <a:latin typeface="Times New Roman" pitchFamily="18" charset="0"/>
                <a:cs typeface="Times New Roman" pitchFamily="18" charset="0"/>
              </a:rPr>
              <a:t>Methods of </a:t>
            </a:r>
            <a:r>
              <a:rPr lang="en-US" sz="3600" b="1" dirty="0" err="1">
                <a:effectLst/>
                <a:latin typeface="Times New Roman" pitchFamily="18" charset="0"/>
                <a:cs typeface="Times New Roman" pitchFamily="18" charset="0"/>
              </a:rPr>
              <a:t>KeyListener</a:t>
            </a:r>
            <a:r>
              <a:rPr lang="en-US" sz="3600" b="1" dirty="0">
                <a:effectLst/>
                <a:latin typeface="Times New Roman" pitchFamily="18" charset="0"/>
                <a:cs typeface="Times New Roman" pitchFamily="18" charset="0"/>
              </a:rPr>
              <a:t> Interface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5464390"/>
              </p:ext>
            </p:extLst>
          </p:nvPr>
        </p:nvGraphicFramePr>
        <p:xfrm>
          <a:off x="381000" y="1615440"/>
          <a:ext cx="8382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keyTyped(</a:t>
                      </a:r>
                      <a:r>
                        <a:rPr lang="en-US" sz="24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KeyEvent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Called just after the user types a Unicode character into the listened-to component.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keyPressed(</a:t>
                      </a:r>
                      <a:r>
                        <a:rPr lang="en-US" sz="24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KeyEvent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Called just after the user presses a key while the listened-to component has the focus.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keyReleased(</a:t>
                      </a:r>
                      <a:r>
                        <a:rPr lang="en-US" sz="24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KeyEvent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Called just after the user releases a key while the listened-to component has the focus.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37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60387"/>
          </a:xfrm>
        </p:spPr>
        <p:txBody>
          <a:bodyPr>
            <a:normAutofit fontScale="90000"/>
          </a:bodyPr>
          <a:lstStyle/>
          <a:p>
            <a:r>
              <a:rPr lang="en-US" sz="3800" b="1" dirty="0" err="1"/>
              <a:t>TextEvent</a:t>
            </a:r>
            <a:r>
              <a:rPr lang="en-US" sz="3800" b="1" dirty="0"/>
              <a:t> class</a:t>
            </a:r>
            <a:r>
              <a:rPr lang="en-US" sz="3800" dirty="0"/>
              <a:t> 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86800" cy="5334000"/>
          </a:xfrm>
        </p:spPr>
        <p:txBody>
          <a:bodyPr/>
          <a:lstStyle/>
          <a:p>
            <a:r>
              <a:rPr lang="en-US" sz="2600"/>
              <a:t>A semantic event which indicates that an object's text changed. </a:t>
            </a:r>
          </a:p>
          <a:p>
            <a:r>
              <a:rPr lang="en-US" sz="2600"/>
              <a:t>This high-level event is generated by an object (such as a TextComponent) when its text changes.</a:t>
            </a:r>
          </a:p>
          <a:p>
            <a:endParaRPr lang="en-US" sz="2600"/>
          </a:p>
          <a:p>
            <a:r>
              <a:rPr lang="en-US" sz="2600" b="1"/>
              <a:t>public TextEvent(Object source,int id)</a:t>
            </a:r>
            <a:endParaRPr lang="en-US" sz="2600"/>
          </a:p>
          <a:p>
            <a:pPr lvl="1"/>
            <a:r>
              <a:rPr lang="en-US"/>
              <a:t>Constructs a TextEvent object. </a:t>
            </a:r>
            <a:endParaRPr lang="en-US" b="1"/>
          </a:p>
          <a:p>
            <a:pPr lvl="1"/>
            <a:r>
              <a:rPr lang="en-US" sz="2200" b="1"/>
              <a:t>Parameters:</a:t>
            </a:r>
            <a:r>
              <a:rPr lang="en-US" sz="2200"/>
              <a:t> </a:t>
            </a:r>
          </a:p>
          <a:p>
            <a:pPr lvl="1"/>
            <a:r>
              <a:rPr lang="en-US" b="1"/>
              <a:t>source</a:t>
            </a:r>
            <a:r>
              <a:rPr lang="en-US"/>
              <a:t> - the (TextComponent) object that originated the event </a:t>
            </a:r>
          </a:p>
          <a:p>
            <a:pPr lvl="1"/>
            <a:r>
              <a:rPr lang="en-US" b="1"/>
              <a:t>id</a:t>
            </a:r>
            <a:r>
              <a:rPr lang="en-US"/>
              <a:t> - an integer that identifies the event type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38</a:t>
            </a:fld>
            <a:endParaRPr lang="en-I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60387"/>
          </a:xfrm>
        </p:spPr>
        <p:txBody>
          <a:bodyPr>
            <a:normAutofit fontScale="90000"/>
          </a:bodyPr>
          <a:lstStyle/>
          <a:p>
            <a:r>
              <a:rPr lang="en-US" sz="3800" b="1"/>
              <a:t>TextListener interface</a:t>
            </a:r>
            <a:r>
              <a:rPr lang="en-US" sz="3800"/>
              <a:t> 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257800"/>
          </a:xfrm>
        </p:spPr>
        <p:txBody>
          <a:bodyPr/>
          <a:lstStyle/>
          <a:p>
            <a:r>
              <a:rPr lang="en-US"/>
              <a:t>The listener interface for receiving text events. </a:t>
            </a:r>
          </a:p>
          <a:p>
            <a:endParaRPr lang="en-US"/>
          </a:p>
          <a:p>
            <a:r>
              <a:rPr lang="en-US" b="1"/>
              <a:t>void textValueChanged(TextEvent e)</a:t>
            </a:r>
            <a:endParaRPr lang="en-US"/>
          </a:p>
          <a:p>
            <a:r>
              <a:rPr lang="en-US"/>
              <a:t>Invoked when the value of the text has changed. </a:t>
            </a:r>
          </a:p>
          <a:p>
            <a:r>
              <a:rPr lang="en-US"/>
              <a:t>The code written for this method performs the operations that need to occur when text changes.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39</a:t>
            </a:fld>
            <a:endParaRPr lang="en-I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60387"/>
          </a:xfrm>
        </p:spPr>
        <p:txBody>
          <a:bodyPr>
            <a:normAutofit fontScale="90000"/>
          </a:bodyPr>
          <a:lstStyle/>
          <a:p>
            <a:r>
              <a:rPr lang="en-US" sz="3800" b="1" dirty="0" err="1"/>
              <a:t>WindowEvent</a:t>
            </a:r>
            <a:r>
              <a:rPr lang="en-US" sz="3800" b="1" dirty="0"/>
              <a:t> class</a:t>
            </a:r>
            <a:r>
              <a:rPr lang="en-US" sz="3800" dirty="0"/>
              <a:t> 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10600" cy="5410200"/>
          </a:xfrm>
        </p:spPr>
        <p:txBody>
          <a:bodyPr/>
          <a:lstStyle/>
          <a:p>
            <a:r>
              <a:rPr lang="en-US" dirty="0"/>
              <a:t>A low-level event indicates that a window has changed its status. </a:t>
            </a:r>
          </a:p>
          <a:p>
            <a:endParaRPr lang="en-US" dirty="0"/>
          </a:p>
          <a:p>
            <a:r>
              <a:rPr lang="en-US" dirty="0"/>
              <a:t>This event is generated by a Window object when it is opened, closed, activated, deactivated, </a:t>
            </a:r>
            <a:r>
              <a:rPr lang="en-US" dirty="0" err="1"/>
              <a:t>iconified</a:t>
            </a:r>
            <a:r>
              <a:rPr lang="en-US" dirty="0"/>
              <a:t>, or </a:t>
            </a:r>
            <a:r>
              <a:rPr lang="en-US" dirty="0" err="1"/>
              <a:t>deiconified</a:t>
            </a:r>
            <a:r>
              <a:rPr lang="en-US" dirty="0"/>
              <a:t>, or when focus is transferred into or out of the Window.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40</a:t>
            </a:fld>
            <a:endParaRPr lang="en-I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331787"/>
          </a:xfrm>
        </p:spPr>
        <p:txBody>
          <a:bodyPr>
            <a:normAutofit fontScale="90000"/>
          </a:bodyPr>
          <a:lstStyle/>
          <a:p>
            <a:r>
              <a:rPr lang="en-US" sz="3800" b="1"/>
              <a:t>int constants</a:t>
            </a:r>
            <a:r>
              <a:rPr lang="en-US" sz="3800"/>
              <a:t> 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763000" cy="5638800"/>
          </a:xfrm>
        </p:spPr>
        <p:txBody>
          <a:bodyPr/>
          <a:lstStyle/>
          <a:p>
            <a:r>
              <a:rPr lang="en-US" sz="2800" b="1"/>
              <a:t>WINDOW_ACTIVATED </a:t>
            </a:r>
            <a:endParaRPr lang="en-US" sz="2800"/>
          </a:p>
          <a:p>
            <a:r>
              <a:rPr lang="en-US" sz="2800" b="1"/>
              <a:t>WINDOW_CLOSED</a:t>
            </a:r>
            <a:r>
              <a:rPr lang="en-US" sz="2800"/>
              <a:t> </a:t>
            </a:r>
          </a:p>
          <a:p>
            <a:r>
              <a:rPr lang="en-US" sz="2800" b="1"/>
              <a:t>WINDOW_CLOSING </a:t>
            </a:r>
          </a:p>
          <a:p>
            <a:r>
              <a:rPr lang="en-US" sz="2800" b="1"/>
              <a:t>WINDOW_DEACTIVATED </a:t>
            </a:r>
            <a:endParaRPr lang="en-US" sz="2800"/>
          </a:p>
          <a:p>
            <a:r>
              <a:rPr lang="en-US" sz="2800" b="1"/>
              <a:t>WINDOW_DEICONIFIED </a:t>
            </a:r>
            <a:endParaRPr lang="en-US" sz="2800"/>
          </a:p>
          <a:p>
            <a:r>
              <a:rPr lang="en-US" sz="2800" b="1"/>
              <a:t>WINDOW_GAINED_FOCUS </a:t>
            </a:r>
          </a:p>
          <a:p>
            <a:r>
              <a:rPr lang="en-US" sz="2800" b="1"/>
              <a:t>WINDOW_ICONIFIED </a:t>
            </a:r>
            <a:endParaRPr lang="en-US" sz="2800"/>
          </a:p>
          <a:p>
            <a:r>
              <a:rPr lang="en-US" sz="2800" b="1"/>
              <a:t>WINDOW_LOST_FOCUS </a:t>
            </a:r>
          </a:p>
          <a:p>
            <a:r>
              <a:rPr lang="en-US" sz="2800" b="1"/>
              <a:t>WINDOW_OPENED </a:t>
            </a:r>
          </a:p>
          <a:p>
            <a:r>
              <a:rPr lang="en-US" sz="2800" b="1"/>
              <a:t>WINDOW_STATE_CHANGED </a:t>
            </a:r>
            <a:endParaRPr lang="en-US" sz="2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41</a:t>
            </a:fld>
            <a:endParaRPr lang="en-I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407988"/>
          </a:xfrm>
        </p:spPr>
        <p:txBody>
          <a:bodyPr>
            <a:normAutofit fontScale="90000"/>
          </a:bodyPr>
          <a:lstStyle/>
          <a:p>
            <a:r>
              <a:rPr lang="en-US" sz="3800" b="1"/>
              <a:t>Constructors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5715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900" b="1"/>
              <a:t>public WindowEvent(Window source,int id)</a:t>
            </a:r>
            <a:endParaRPr lang="en-US" sz="1900"/>
          </a:p>
          <a:p>
            <a:pPr lvl="1">
              <a:lnSpc>
                <a:spcPct val="80000"/>
              </a:lnSpc>
            </a:pPr>
            <a:r>
              <a:rPr lang="en-US" sz="2200"/>
              <a:t>Constructs a WindowEvent object. </a:t>
            </a:r>
            <a:endParaRPr lang="en-US" sz="2200" b="1"/>
          </a:p>
          <a:p>
            <a:pPr lvl="1">
              <a:lnSpc>
                <a:spcPct val="80000"/>
              </a:lnSpc>
            </a:pPr>
            <a:r>
              <a:rPr lang="en-US" sz="2200" b="1"/>
              <a:t>Parameters:</a:t>
            </a:r>
            <a:r>
              <a:rPr lang="en-US" sz="2200"/>
              <a:t> </a:t>
            </a:r>
            <a:r>
              <a:rPr lang="en-US" sz="2200" b="1"/>
              <a:t>source</a:t>
            </a:r>
            <a:r>
              <a:rPr lang="en-US" sz="2200"/>
              <a:t> - the Window object that originated the event </a:t>
            </a:r>
          </a:p>
          <a:p>
            <a:pPr lvl="1">
              <a:lnSpc>
                <a:spcPct val="80000"/>
              </a:lnSpc>
            </a:pPr>
            <a:r>
              <a:rPr lang="en-US" sz="2200" b="1"/>
              <a:t>id</a:t>
            </a:r>
            <a:r>
              <a:rPr lang="en-US" sz="2200"/>
              <a:t> - an integer indicating the type of event</a:t>
            </a:r>
            <a:r>
              <a:rPr lang="en-US" sz="1700"/>
              <a:t> </a:t>
            </a:r>
          </a:p>
          <a:p>
            <a:pPr lvl="1">
              <a:lnSpc>
                <a:spcPct val="80000"/>
              </a:lnSpc>
            </a:pPr>
            <a:endParaRPr lang="en-US" sz="1700" b="1"/>
          </a:p>
          <a:p>
            <a:pPr>
              <a:lnSpc>
                <a:spcPct val="80000"/>
              </a:lnSpc>
            </a:pPr>
            <a:r>
              <a:rPr lang="en-US" sz="1900" b="1"/>
              <a:t>- public WindowEvent(Window source,int id,Window opposite,int oldState, int newState)</a:t>
            </a:r>
            <a:endParaRPr lang="en-US" sz="1900"/>
          </a:p>
          <a:p>
            <a:pPr lvl="1">
              <a:lnSpc>
                <a:spcPct val="80000"/>
              </a:lnSpc>
            </a:pPr>
            <a:r>
              <a:rPr lang="en-US" sz="2200"/>
              <a:t>Note that passing in an invalid id results in unspecified behavior. This method throws an IllegalArgumentException if source is null. </a:t>
            </a:r>
            <a:endParaRPr lang="en-US" sz="2200" b="1"/>
          </a:p>
          <a:p>
            <a:pPr lvl="1">
              <a:lnSpc>
                <a:spcPct val="80000"/>
              </a:lnSpc>
            </a:pPr>
            <a:r>
              <a:rPr lang="en-US" sz="2200" b="1"/>
              <a:t>source</a:t>
            </a:r>
            <a:r>
              <a:rPr lang="en-US" sz="2200"/>
              <a:t> - the Window object that originated the event </a:t>
            </a:r>
          </a:p>
          <a:p>
            <a:pPr lvl="1">
              <a:lnSpc>
                <a:spcPct val="80000"/>
              </a:lnSpc>
            </a:pPr>
            <a:r>
              <a:rPr lang="en-US" sz="2200" b="1"/>
              <a:t>id</a:t>
            </a:r>
            <a:r>
              <a:rPr lang="en-US" sz="2200"/>
              <a:t> - an integer indicating the type of event. </a:t>
            </a:r>
          </a:p>
          <a:p>
            <a:pPr lvl="1">
              <a:lnSpc>
                <a:spcPct val="80000"/>
              </a:lnSpc>
            </a:pPr>
            <a:r>
              <a:rPr lang="en-US" sz="2200" b="1"/>
              <a:t>opposite</a:t>
            </a:r>
            <a:r>
              <a:rPr lang="en-US" sz="2200"/>
              <a:t> - the other window involved in the focus or activation change, or null </a:t>
            </a:r>
          </a:p>
          <a:p>
            <a:pPr lvl="1">
              <a:lnSpc>
                <a:spcPct val="80000"/>
              </a:lnSpc>
            </a:pPr>
            <a:r>
              <a:rPr lang="en-US" sz="2200" b="1"/>
              <a:t>oldState</a:t>
            </a:r>
            <a:r>
              <a:rPr lang="en-US" sz="2200"/>
              <a:t> - previous state of the window for window state change event </a:t>
            </a:r>
          </a:p>
          <a:p>
            <a:pPr lvl="1">
              <a:lnSpc>
                <a:spcPct val="80000"/>
              </a:lnSpc>
            </a:pPr>
            <a:r>
              <a:rPr lang="en-US" sz="2200" b="1"/>
              <a:t>newState</a:t>
            </a:r>
            <a:r>
              <a:rPr lang="en-US" sz="2200"/>
              <a:t> - new state of the window for window state change event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42</a:t>
            </a:fld>
            <a:endParaRPr lang="en-I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public Window getWindow()</a:t>
            </a:r>
            <a:endParaRPr lang="en-US"/>
          </a:p>
          <a:p>
            <a:pPr lvl="1"/>
            <a:r>
              <a:rPr lang="en-US"/>
              <a:t>Returns the originator of the event. </a:t>
            </a:r>
            <a:endParaRPr lang="en-US" b="1"/>
          </a:p>
          <a:p>
            <a:pPr lvl="1"/>
            <a:r>
              <a:rPr lang="en-US" b="1"/>
              <a:t>Returns:</a:t>
            </a:r>
            <a:r>
              <a:rPr lang="en-US"/>
              <a:t> the Window object that originated the event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43</a:t>
            </a:fld>
            <a:endParaRPr lang="en-I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484188"/>
          </a:xfrm>
        </p:spPr>
        <p:txBody>
          <a:bodyPr>
            <a:normAutofit fontScale="90000"/>
          </a:bodyPr>
          <a:lstStyle/>
          <a:p>
            <a:r>
              <a:rPr lang="en-US" sz="3300" b="1"/>
              <a:t>WindowListener interface</a:t>
            </a:r>
            <a:r>
              <a:rPr lang="en-US" sz="3800"/>
              <a:t> 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610600" cy="5791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100" b="1"/>
              <a:t>void windowOpened(WindowEvent e)</a:t>
            </a:r>
            <a:endParaRPr lang="en-US" sz="2100"/>
          </a:p>
          <a:p>
            <a:pPr lvl="1">
              <a:lnSpc>
                <a:spcPct val="80000"/>
              </a:lnSpc>
            </a:pPr>
            <a:r>
              <a:rPr lang="en-US" sz="2000"/>
              <a:t>Invoked the first time a window is made visible. </a:t>
            </a:r>
            <a:endParaRPr lang="en-US" sz="2000" b="1"/>
          </a:p>
          <a:p>
            <a:pPr>
              <a:lnSpc>
                <a:spcPct val="80000"/>
              </a:lnSpc>
            </a:pPr>
            <a:r>
              <a:rPr lang="en-US" sz="2100" b="1"/>
              <a:t>void windowClosing(WindowEvent e)</a:t>
            </a:r>
            <a:endParaRPr lang="en-US" sz="2100"/>
          </a:p>
          <a:p>
            <a:pPr lvl="1">
              <a:lnSpc>
                <a:spcPct val="80000"/>
              </a:lnSpc>
            </a:pPr>
            <a:r>
              <a:rPr lang="en-US" sz="2000"/>
              <a:t>Invoked when the user attempts to close the window from the window's system menu. </a:t>
            </a:r>
            <a:endParaRPr lang="en-US" sz="2000" b="1"/>
          </a:p>
          <a:p>
            <a:pPr>
              <a:lnSpc>
                <a:spcPct val="80000"/>
              </a:lnSpc>
            </a:pPr>
            <a:r>
              <a:rPr lang="en-US" sz="2100" b="1"/>
              <a:t>void windowClosed(WindowEvent e)</a:t>
            </a:r>
            <a:endParaRPr lang="en-US" sz="2100"/>
          </a:p>
          <a:p>
            <a:pPr lvl="1">
              <a:lnSpc>
                <a:spcPct val="80000"/>
              </a:lnSpc>
            </a:pPr>
            <a:r>
              <a:rPr lang="en-US" sz="2000"/>
              <a:t>Invoked when a window has been closed as the result of calling dispose on the window</a:t>
            </a:r>
            <a:endParaRPr lang="en-US" sz="2000" b="1"/>
          </a:p>
          <a:p>
            <a:pPr>
              <a:lnSpc>
                <a:spcPct val="80000"/>
              </a:lnSpc>
            </a:pPr>
            <a:r>
              <a:rPr lang="en-US" sz="2100" b="1"/>
              <a:t>void windowIconified(WindowEvent e)</a:t>
            </a:r>
            <a:endParaRPr lang="en-US" sz="2100"/>
          </a:p>
          <a:p>
            <a:pPr lvl="1">
              <a:lnSpc>
                <a:spcPct val="80000"/>
              </a:lnSpc>
            </a:pPr>
            <a:r>
              <a:rPr lang="en-US" sz="2000"/>
              <a:t>Invoked when a window is changed from a normal to a minimized state. For many platforms, a minimized window is displayed as the icon specified in the window's iconImage property. </a:t>
            </a:r>
            <a:endParaRPr lang="en-US" sz="2000" b="1"/>
          </a:p>
          <a:p>
            <a:pPr>
              <a:lnSpc>
                <a:spcPct val="80000"/>
              </a:lnSpc>
            </a:pPr>
            <a:r>
              <a:rPr lang="en-US" sz="2100" b="1"/>
              <a:t>void windowDeiconified(WindowEvent e)</a:t>
            </a:r>
            <a:endParaRPr lang="en-US" sz="2100"/>
          </a:p>
          <a:p>
            <a:pPr lvl="1">
              <a:lnSpc>
                <a:spcPct val="80000"/>
              </a:lnSpc>
            </a:pPr>
            <a:r>
              <a:rPr lang="en-US" sz="2000"/>
              <a:t>Invoked when a window is changed from a minimized to a normal state. </a:t>
            </a:r>
            <a:endParaRPr lang="en-US" sz="2000" b="1"/>
          </a:p>
          <a:p>
            <a:pPr>
              <a:lnSpc>
                <a:spcPct val="80000"/>
              </a:lnSpc>
            </a:pPr>
            <a:r>
              <a:rPr lang="en-US" sz="2100" b="1"/>
              <a:t>void windowActivated(WindowEvent e)</a:t>
            </a:r>
            <a:endParaRPr lang="en-US" sz="2100"/>
          </a:p>
          <a:p>
            <a:pPr lvl="1">
              <a:lnSpc>
                <a:spcPct val="80000"/>
              </a:lnSpc>
            </a:pPr>
            <a:r>
              <a:rPr lang="en-US" sz="2000"/>
              <a:t>Invoked when the Window is set to be the active Window. </a:t>
            </a:r>
            <a:endParaRPr lang="en-US" sz="2000" b="1"/>
          </a:p>
          <a:p>
            <a:pPr>
              <a:lnSpc>
                <a:spcPct val="80000"/>
              </a:lnSpc>
            </a:pPr>
            <a:r>
              <a:rPr lang="en-US" sz="2100" b="1"/>
              <a:t>void windowDeactivated(WindowEvent e)</a:t>
            </a:r>
            <a:endParaRPr lang="en-US" sz="2100"/>
          </a:p>
          <a:p>
            <a:pPr lvl="1">
              <a:lnSpc>
                <a:spcPct val="80000"/>
              </a:lnSpc>
            </a:pPr>
            <a:r>
              <a:rPr lang="en-US" sz="2000"/>
              <a:t>Invoked when a Window is no longer the active Window.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44</a:t>
            </a:fld>
            <a:endParaRPr lang="en-I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 sz="3800" b="1"/>
              <a:t>WindowFocusListener interface</a:t>
            </a:r>
            <a:endParaRPr lang="en-US" sz="380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86800" cy="5334000"/>
          </a:xfrm>
        </p:spPr>
        <p:txBody>
          <a:bodyPr/>
          <a:lstStyle/>
          <a:p>
            <a:r>
              <a:rPr lang="en-US" sz="2600"/>
              <a:t>The listener interface for receiving WindowEvents, including WINDOW_GAINED_FOCUS and WINDOW_LOST_FOCUS events.</a:t>
            </a:r>
            <a:endParaRPr lang="en-US" sz="2600" b="1"/>
          </a:p>
          <a:p>
            <a:r>
              <a:rPr lang="en-US" sz="2600" b="1"/>
              <a:t>void windowGainedFocus(WindowEvent e)</a:t>
            </a:r>
            <a:endParaRPr lang="en-US" sz="2600"/>
          </a:p>
          <a:p>
            <a:pPr lvl="1"/>
            <a:r>
              <a:rPr lang="en-US" sz="2200"/>
              <a:t>Invoked when the Window is set to be the focused Window, which means that the Window, or one of its subcomponents, will receive keyboard events. </a:t>
            </a:r>
            <a:endParaRPr lang="en-US" sz="2200" b="1"/>
          </a:p>
          <a:p>
            <a:r>
              <a:rPr lang="en-US" sz="2600" b="1"/>
              <a:t>void windowLostFocus(WindowEvent e)</a:t>
            </a:r>
            <a:endParaRPr lang="en-US" sz="2600"/>
          </a:p>
          <a:p>
            <a:pPr lvl="1"/>
            <a:r>
              <a:rPr lang="en-US" sz="2200"/>
              <a:t>Invoked when the Window is no longer the focused Window, which means that keyboard events will no longer be delivered to the Window or any of its subcomponents.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45</a:t>
            </a:fld>
            <a:endParaRPr lang="en-I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0034" y="35716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MouseEvent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class</a:t>
            </a:r>
            <a:endParaRPr lang="en-US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4348" y="1643050"/>
            <a:ext cx="821537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800" dirty="0"/>
              <a:t>This event indicates a mouse action occurred in a component. This low-level event is generated by a component object for Mouse Events and Mouse motion events.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46</a:t>
            </a:fld>
            <a:endParaRPr lang="en-I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8596" y="214290"/>
            <a:ext cx="8715404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Constants for </a:t>
            </a:r>
            <a:r>
              <a:rPr lang="en-IN" sz="2400" b="1" dirty="0" err="1"/>
              <a:t>java.awt.event.MouseEvent</a:t>
            </a:r>
            <a:r>
              <a:rPr lang="en-IN" sz="2400" dirty="0"/>
              <a:t> class:</a:t>
            </a:r>
          </a:p>
          <a:p>
            <a:endParaRPr lang="en-IN" sz="2400" dirty="0"/>
          </a:p>
          <a:p>
            <a:r>
              <a:rPr lang="en-IN" sz="2400" b="1" dirty="0"/>
              <a:t>static </a:t>
            </a:r>
            <a:r>
              <a:rPr lang="en-IN" sz="2400" b="1" dirty="0" err="1"/>
              <a:t>int</a:t>
            </a:r>
            <a:r>
              <a:rPr lang="en-IN" sz="2400" b="1" dirty="0"/>
              <a:t> BUTTON1 </a:t>
            </a:r>
            <a:r>
              <a:rPr lang="en-IN" sz="2400" dirty="0"/>
              <a:t>--Indicates mouse button #1; used by </a:t>
            </a:r>
            <a:r>
              <a:rPr lang="en-IN" sz="2400" dirty="0" err="1"/>
              <a:t>getButton</a:t>
            </a:r>
            <a:r>
              <a:rPr lang="en-IN" sz="2400" dirty="0"/>
              <a:t>()</a:t>
            </a:r>
          </a:p>
          <a:p>
            <a:endParaRPr lang="en-IN" sz="900" dirty="0"/>
          </a:p>
          <a:p>
            <a:r>
              <a:rPr lang="en-IN" sz="2400" b="1" dirty="0"/>
              <a:t>static </a:t>
            </a:r>
            <a:r>
              <a:rPr lang="en-IN" sz="2400" b="1" dirty="0" err="1"/>
              <a:t>int</a:t>
            </a:r>
            <a:r>
              <a:rPr lang="en-IN" sz="2400" b="1" dirty="0"/>
              <a:t> BUTTON2 </a:t>
            </a:r>
            <a:r>
              <a:rPr lang="en-IN" sz="2400" dirty="0"/>
              <a:t>--Indicates mouse button #2; used by </a:t>
            </a:r>
            <a:r>
              <a:rPr lang="en-IN" sz="2400" dirty="0" err="1"/>
              <a:t>getButton</a:t>
            </a:r>
            <a:r>
              <a:rPr lang="en-IN" sz="2400" dirty="0"/>
              <a:t>()</a:t>
            </a:r>
          </a:p>
          <a:p>
            <a:endParaRPr lang="en-IN" sz="900" dirty="0"/>
          </a:p>
          <a:p>
            <a:r>
              <a:rPr lang="en-IN" sz="2400" b="1" dirty="0"/>
              <a:t>static </a:t>
            </a:r>
            <a:r>
              <a:rPr lang="en-IN" sz="2400" b="1" dirty="0" err="1"/>
              <a:t>int</a:t>
            </a:r>
            <a:r>
              <a:rPr lang="en-IN" sz="2400" b="1" dirty="0"/>
              <a:t> BUTTON3 </a:t>
            </a:r>
            <a:r>
              <a:rPr lang="en-IN" sz="2400" dirty="0"/>
              <a:t>--Indicates mouse button #3; used by </a:t>
            </a:r>
            <a:r>
              <a:rPr lang="en-IN" sz="2400" dirty="0" err="1"/>
              <a:t>getButton</a:t>
            </a:r>
            <a:r>
              <a:rPr lang="en-IN" sz="2400" dirty="0"/>
              <a:t>()</a:t>
            </a:r>
          </a:p>
          <a:p>
            <a:endParaRPr lang="en-IN" sz="900" dirty="0"/>
          </a:p>
          <a:p>
            <a:r>
              <a:rPr lang="en-IN" sz="2400" b="1" dirty="0"/>
              <a:t>static </a:t>
            </a:r>
            <a:r>
              <a:rPr lang="en-IN" sz="2400" b="1" dirty="0" err="1"/>
              <a:t>int</a:t>
            </a:r>
            <a:r>
              <a:rPr lang="en-IN" sz="2400" b="1" dirty="0"/>
              <a:t> MOUSE_CLICKED </a:t>
            </a:r>
            <a:r>
              <a:rPr lang="en-IN" sz="2400" dirty="0"/>
              <a:t>--The "mouse clicked" event</a:t>
            </a:r>
          </a:p>
          <a:p>
            <a:endParaRPr lang="en-IN" sz="900" dirty="0"/>
          </a:p>
          <a:p>
            <a:r>
              <a:rPr lang="en-IN" sz="2400" b="1" dirty="0"/>
              <a:t>static </a:t>
            </a:r>
            <a:r>
              <a:rPr lang="en-IN" sz="2400" b="1" dirty="0" err="1"/>
              <a:t>int</a:t>
            </a:r>
            <a:r>
              <a:rPr lang="en-IN" sz="2400" b="1" dirty="0"/>
              <a:t> MOUSE_DRAGGED </a:t>
            </a:r>
            <a:r>
              <a:rPr lang="en-IN" sz="2400" dirty="0"/>
              <a:t>--The "mouse dragged" event</a:t>
            </a:r>
          </a:p>
          <a:p>
            <a:endParaRPr lang="en-IN" sz="900" dirty="0"/>
          </a:p>
          <a:p>
            <a:r>
              <a:rPr lang="en-IN" sz="2400" b="1" dirty="0"/>
              <a:t>static </a:t>
            </a:r>
            <a:r>
              <a:rPr lang="en-IN" sz="2400" b="1" dirty="0" err="1"/>
              <a:t>int</a:t>
            </a:r>
            <a:r>
              <a:rPr lang="en-IN" sz="2400" b="1" dirty="0"/>
              <a:t> MOUSE_ENTERED </a:t>
            </a:r>
            <a:r>
              <a:rPr lang="en-IN" sz="2400" dirty="0"/>
              <a:t>--The "mouse entered" event</a:t>
            </a:r>
          </a:p>
          <a:p>
            <a:endParaRPr lang="en-IN" sz="900" dirty="0"/>
          </a:p>
          <a:p>
            <a:r>
              <a:rPr lang="en-IN" sz="2400" b="1" dirty="0"/>
              <a:t>static </a:t>
            </a:r>
            <a:r>
              <a:rPr lang="en-IN" sz="2400" b="1" dirty="0" err="1"/>
              <a:t>int</a:t>
            </a:r>
            <a:r>
              <a:rPr lang="en-IN" sz="2400" b="1" dirty="0"/>
              <a:t> MOUSE_EXITED </a:t>
            </a:r>
            <a:r>
              <a:rPr lang="en-IN" sz="2400" dirty="0"/>
              <a:t>--The "mouse exited" event</a:t>
            </a:r>
          </a:p>
          <a:p>
            <a:endParaRPr lang="en-IN" sz="900" dirty="0"/>
          </a:p>
          <a:p>
            <a:r>
              <a:rPr lang="en-IN" sz="2400" b="1" dirty="0"/>
              <a:t>static </a:t>
            </a:r>
            <a:r>
              <a:rPr lang="en-IN" sz="2400" b="1" dirty="0" err="1"/>
              <a:t>int</a:t>
            </a:r>
            <a:r>
              <a:rPr lang="en-IN" sz="2400" b="1" dirty="0"/>
              <a:t> MOUSE_MOVED </a:t>
            </a:r>
            <a:r>
              <a:rPr lang="en-IN" sz="2400" dirty="0"/>
              <a:t>--The "mouse moved" event</a:t>
            </a:r>
          </a:p>
          <a:p>
            <a:endParaRPr lang="en-IN" sz="900" dirty="0"/>
          </a:p>
          <a:p>
            <a:r>
              <a:rPr lang="en-IN" sz="2400" b="1" dirty="0"/>
              <a:t>static </a:t>
            </a:r>
            <a:r>
              <a:rPr lang="en-IN" sz="2400" b="1" dirty="0" err="1"/>
              <a:t>int</a:t>
            </a:r>
            <a:r>
              <a:rPr lang="en-IN" sz="2400" b="1" dirty="0"/>
              <a:t> MOUSE_PRESSED </a:t>
            </a:r>
            <a:r>
              <a:rPr lang="en-IN" sz="2400" dirty="0"/>
              <a:t>-- The "mouse pressed" event</a:t>
            </a:r>
          </a:p>
          <a:p>
            <a:endParaRPr lang="en-IN" sz="900" dirty="0"/>
          </a:p>
          <a:p>
            <a:r>
              <a:rPr lang="en-IN" sz="2400" b="1" dirty="0"/>
              <a:t>static </a:t>
            </a:r>
            <a:r>
              <a:rPr lang="en-IN" sz="2400" b="1" dirty="0" err="1"/>
              <a:t>int</a:t>
            </a:r>
            <a:r>
              <a:rPr lang="en-IN" sz="2400" b="1" dirty="0"/>
              <a:t> MOUSE_RELEASED </a:t>
            </a:r>
            <a:r>
              <a:rPr lang="en-IN" sz="2400" dirty="0"/>
              <a:t>--The "mouse released" event</a:t>
            </a:r>
          </a:p>
          <a:p>
            <a:endParaRPr lang="en-IN" sz="900" dirty="0"/>
          </a:p>
          <a:p>
            <a:r>
              <a:rPr lang="en-IN" sz="2400" b="1" dirty="0"/>
              <a:t>static </a:t>
            </a:r>
            <a:r>
              <a:rPr lang="en-IN" sz="2400" b="1" dirty="0" err="1"/>
              <a:t>int</a:t>
            </a:r>
            <a:r>
              <a:rPr lang="en-IN" sz="2400" b="1" dirty="0"/>
              <a:t> MOUSE_WHEEL </a:t>
            </a:r>
            <a:r>
              <a:rPr lang="en-IN" sz="2400" dirty="0"/>
              <a:t>--The "mouse wheel" event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47</a:t>
            </a:fld>
            <a:endParaRPr lang="en-I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US" b="1" dirty="0"/>
              <a:t>Constructor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357298"/>
            <a:ext cx="8501122" cy="528641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err="1"/>
              <a:t>MouseEvent</a:t>
            </a:r>
            <a:r>
              <a:rPr lang="en-IN" b="1" dirty="0"/>
              <a:t>(Component source, </a:t>
            </a:r>
            <a:r>
              <a:rPr lang="en-IN" b="1" dirty="0" err="1"/>
              <a:t>int</a:t>
            </a:r>
            <a:r>
              <a:rPr lang="en-IN" b="1" dirty="0"/>
              <a:t> id, long when, </a:t>
            </a:r>
            <a:r>
              <a:rPr lang="en-IN" b="1" dirty="0" err="1"/>
              <a:t>int</a:t>
            </a:r>
            <a:r>
              <a:rPr lang="en-IN" b="1" dirty="0"/>
              <a:t> modifiers, </a:t>
            </a:r>
            <a:r>
              <a:rPr lang="en-IN" b="1" dirty="0" err="1"/>
              <a:t>int</a:t>
            </a:r>
            <a:r>
              <a:rPr lang="en-IN" b="1" dirty="0"/>
              <a:t> x, </a:t>
            </a:r>
            <a:r>
              <a:rPr lang="en-IN" b="1" dirty="0" err="1"/>
              <a:t>int</a:t>
            </a:r>
            <a:r>
              <a:rPr lang="en-IN" b="1" dirty="0"/>
              <a:t> y, </a:t>
            </a:r>
            <a:r>
              <a:rPr lang="en-IN" b="1" dirty="0" err="1"/>
              <a:t>int</a:t>
            </a:r>
            <a:r>
              <a:rPr lang="en-IN" b="1" dirty="0"/>
              <a:t> </a:t>
            </a:r>
            <a:r>
              <a:rPr lang="en-IN" b="1" dirty="0" err="1"/>
              <a:t>clickCount</a:t>
            </a:r>
            <a:r>
              <a:rPr lang="en-IN" b="1" dirty="0"/>
              <a:t>, </a:t>
            </a:r>
            <a:r>
              <a:rPr lang="en-IN" b="1" dirty="0" err="1"/>
              <a:t>boolean</a:t>
            </a:r>
            <a:r>
              <a:rPr lang="en-IN" b="1" dirty="0"/>
              <a:t> </a:t>
            </a:r>
            <a:r>
              <a:rPr lang="en-IN" b="1" dirty="0" err="1"/>
              <a:t>popupTrigger</a:t>
            </a:r>
            <a:r>
              <a:rPr lang="en-IN" b="1" dirty="0"/>
              <a:t>)</a:t>
            </a:r>
            <a:endParaRPr lang="en-IN" dirty="0"/>
          </a:p>
          <a:p>
            <a:pPr lvl="1"/>
            <a:r>
              <a:rPr lang="en-IN" dirty="0"/>
              <a:t>Constructs a </a:t>
            </a:r>
            <a:r>
              <a:rPr lang="en-IN" dirty="0" err="1"/>
              <a:t>MouseEvent</a:t>
            </a:r>
            <a:r>
              <a:rPr lang="en-IN" dirty="0"/>
              <a:t> object with the specified </a:t>
            </a:r>
          </a:p>
          <a:p>
            <a:pPr lvl="1">
              <a:buNone/>
            </a:pPr>
            <a:endParaRPr lang="en-IN" dirty="0"/>
          </a:p>
          <a:p>
            <a:pPr lvl="1">
              <a:buNone/>
            </a:pPr>
            <a:r>
              <a:rPr lang="en-IN" b="1" dirty="0"/>
              <a:t>source</a:t>
            </a:r>
            <a:r>
              <a:rPr lang="en-IN" dirty="0"/>
              <a:t>-  source component,</a:t>
            </a:r>
          </a:p>
          <a:p>
            <a:pPr lvl="1">
              <a:buNone/>
            </a:pPr>
            <a:r>
              <a:rPr lang="en-IN" b="1" dirty="0"/>
              <a:t>id</a:t>
            </a:r>
            <a:r>
              <a:rPr lang="en-IN" dirty="0"/>
              <a:t>- type of event,</a:t>
            </a:r>
          </a:p>
          <a:p>
            <a:pPr lvl="1">
              <a:buNone/>
            </a:pPr>
            <a:r>
              <a:rPr lang="en-US" b="1" dirty="0"/>
              <a:t>when</a:t>
            </a:r>
            <a:r>
              <a:rPr lang="en-US" dirty="0"/>
              <a:t>- system time at mouse event occurred</a:t>
            </a:r>
            <a:endParaRPr lang="en-IN" dirty="0"/>
          </a:p>
          <a:p>
            <a:pPr lvl="1">
              <a:buNone/>
            </a:pPr>
            <a:r>
              <a:rPr lang="en-IN" b="1" dirty="0"/>
              <a:t>modifiers</a:t>
            </a:r>
            <a:r>
              <a:rPr lang="en-IN" dirty="0"/>
              <a:t>-to know what modifiers were pressed after event was occurred,</a:t>
            </a:r>
          </a:p>
          <a:p>
            <a:pPr lvl="1">
              <a:buNone/>
            </a:pPr>
            <a:r>
              <a:rPr lang="en-IN" b="1" dirty="0"/>
              <a:t>x &amp; y</a:t>
            </a:r>
            <a:r>
              <a:rPr lang="en-IN" dirty="0"/>
              <a:t>- coordinates of the mouse , </a:t>
            </a:r>
          </a:p>
          <a:p>
            <a:pPr lvl="1">
              <a:buNone/>
            </a:pPr>
            <a:r>
              <a:rPr lang="en-IN" b="1" dirty="0" err="1"/>
              <a:t>clickCount</a:t>
            </a:r>
            <a:r>
              <a:rPr lang="en-IN" dirty="0"/>
              <a:t>- click count</a:t>
            </a:r>
          </a:p>
          <a:p>
            <a:pPr lvl="1">
              <a:buNone/>
            </a:pPr>
            <a:r>
              <a:rPr lang="en-IN" b="1" dirty="0" err="1"/>
              <a:t>popupTrigger</a:t>
            </a:r>
            <a:r>
              <a:rPr lang="en-IN" dirty="0"/>
              <a:t>- whether popup menu appeared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48</a:t>
            </a:fld>
            <a:endParaRPr lang="en-I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6577375"/>
              </p:ext>
            </p:extLst>
          </p:nvPr>
        </p:nvGraphicFramePr>
        <p:xfrm>
          <a:off x="467544" y="260648"/>
          <a:ext cx="8496944" cy="598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8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84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itchFamily="18" charset="0"/>
                          <a:cs typeface="Times New Roman" pitchFamily="18" charset="0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itchFamily="18" charset="0"/>
                          <a:cs typeface="Times New Roman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835"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8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en-US" sz="28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getClickCount()</a:t>
                      </a:r>
                      <a:endParaRPr lang="en-US" sz="2800" b="1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Returns the number of quick, consecutive clicks the user has made (including this event). For example, returns 2 for a double click.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835"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8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en-US" sz="28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getButton()</a:t>
                      </a:r>
                      <a:endParaRPr lang="en-US" sz="2800" b="1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Returns which mouse button, if any, has a changed state. One of the following constants is returned: </a:t>
                      </a:r>
                      <a:r>
                        <a:rPr lang="en-US" sz="24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NOBUTTON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, BUTTON1, BUTTON2, or BUTTON3.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135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en-US" sz="28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getX()</a:t>
                      </a:r>
                      <a:br>
                        <a:rPr lang="en-US" sz="28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en-US" sz="28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  <a:r>
                        <a:rPr lang="en-US" sz="28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getY()</a:t>
                      </a:r>
                      <a:endParaRPr lang="en-US" sz="2800" b="1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Return the (</a:t>
                      </a:r>
                      <a:r>
                        <a:rPr lang="en-US" sz="24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x,y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 position at which the event occurred, relative to the component that fired the event.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135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8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Point </a:t>
                      </a:r>
                      <a:r>
                        <a:rPr lang="en-IN" sz="2800" kern="12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getPoint</a:t>
                      </a:r>
                      <a:r>
                        <a:rPr lang="en-IN" sz="28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()</a:t>
                      </a:r>
                      <a:endParaRPr lang="en-US" sz="2800" kern="1200" dirty="0">
                        <a:solidFill>
                          <a:srgbClr val="00206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Returns the </a:t>
                      </a:r>
                      <a:r>
                        <a:rPr lang="en-IN" sz="2400" kern="12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x,y</a:t>
                      </a:r>
                      <a:r>
                        <a:rPr lang="en-IN" sz="24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position of the event </a:t>
                      </a:r>
                      <a:r>
                        <a:rPr lang="en-IN" sz="2400" kern="12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rlative</a:t>
                      </a:r>
                      <a:r>
                        <a:rPr lang="en-IN" sz="24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to the source component.</a:t>
                      </a:r>
                      <a:endParaRPr lang="en-US" sz="2400" kern="1200" dirty="0">
                        <a:solidFill>
                          <a:srgbClr val="00206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49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2920" y="0"/>
            <a:ext cx="8183880" cy="1051560"/>
          </a:xfrm>
        </p:spPr>
        <p:txBody>
          <a:bodyPr/>
          <a:lstStyle/>
          <a:p>
            <a:pPr algn="ctr"/>
            <a:r>
              <a:rPr lang="en-US" b="1" dirty="0" err="1">
                <a:effectLst/>
                <a:latin typeface="Times New Roman" pitchFamily="18" charset="0"/>
                <a:cs typeface="Times New Roman" pitchFamily="18" charset="0"/>
              </a:rPr>
              <a:t>MouseListener</a:t>
            </a:r>
            <a:r>
              <a:rPr lang="en-US" b="1" dirty="0">
                <a:effectLst/>
                <a:latin typeface="Times New Roman" pitchFamily="18" charset="0"/>
                <a:cs typeface="Times New Roman" pitchFamily="18" charset="0"/>
              </a:rPr>
              <a:t> Interface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257800"/>
          </a:xfrm>
        </p:spPr>
        <p:txBody>
          <a:bodyPr>
            <a:normAutofit/>
          </a:bodyPr>
          <a:lstStyle/>
          <a:p>
            <a:endParaRPr lang="en-US" sz="2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Mouse events notify when the user uses the mouse (or similar input device) to interact with a component. </a:t>
            </a:r>
          </a:p>
          <a:p>
            <a:pPr>
              <a:buNone/>
            </a:pPr>
            <a:endParaRPr lang="en-US" sz="2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Mouse events occur when the cursor enters or exits a component's onscreen area and when the user presses or releases one of the mouse buttons.</a:t>
            </a:r>
          </a:p>
          <a:p>
            <a:endParaRPr lang="en-US" sz="2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50</a:t>
            </a:fld>
            <a:endParaRPr lang="en-IN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2920" y="0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ffectLst/>
                <a:latin typeface="Times New Roman" pitchFamily="18" charset="0"/>
                <a:cs typeface="Times New Roman" pitchFamily="18" charset="0"/>
              </a:rPr>
              <a:t>Methods of </a:t>
            </a:r>
            <a:r>
              <a:rPr lang="en-US" sz="3600" b="1" dirty="0" err="1">
                <a:latin typeface="Times New Roman" pitchFamily="18" charset="0"/>
                <a:cs typeface="Times New Roman" pitchFamily="18" charset="0"/>
              </a:rPr>
              <a:t>Mouse</a:t>
            </a:r>
            <a:r>
              <a:rPr lang="en-US" sz="3600" b="1" dirty="0" err="1">
                <a:effectLst/>
                <a:latin typeface="Times New Roman" pitchFamily="18" charset="0"/>
                <a:cs typeface="Times New Roman" pitchFamily="18" charset="0"/>
              </a:rPr>
              <a:t>Listener</a:t>
            </a:r>
            <a:r>
              <a:rPr lang="en-US" sz="3600" b="1" dirty="0">
                <a:effectLst/>
                <a:latin typeface="Times New Roman" pitchFamily="18" charset="0"/>
                <a:cs typeface="Times New Roman" pitchFamily="18" charset="0"/>
              </a:rPr>
              <a:t> Interface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913755"/>
              </p:ext>
            </p:extLst>
          </p:nvPr>
        </p:nvGraphicFramePr>
        <p:xfrm>
          <a:off x="179512" y="914400"/>
          <a:ext cx="8856984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4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2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mouseClicked(</a:t>
                      </a:r>
                      <a:r>
                        <a:rPr lang="en-US" sz="2400" kern="12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MouseEvent</a:t>
                      </a: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Called just after the user clicks the listened-to component.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mouseEntered(</a:t>
                      </a:r>
                      <a:r>
                        <a:rPr lang="en-US" sz="2400" kern="12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MouseEvent</a:t>
                      </a: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Called just after the cursor enters the bounds of the listened-to component.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mouseExited</a:t>
                      </a: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</a:t>
                      </a:r>
                      <a:r>
                        <a:rPr lang="en-US" sz="2400" kern="12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MouseEvent</a:t>
                      </a: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Called just after the cursor exits the bounds of the listened-to component.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mousePressed</a:t>
                      </a: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</a:t>
                      </a:r>
                      <a:r>
                        <a:rPr lang="en-US" sz="2400" kern="12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MouseEvent</a:t>
                      </a: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</a:t>
                      </a:r>
                    </a:p>
                    <a:p>
                      <a:pPr algn="ctr"/>
                      <a:endParaRPr lang="en-US" sz="2400" kern="1200" dirty="0">
                        <a:solidFill>
                          <a:srgbClr val="00206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Called just after the user presses a mouse button while the cursor is over the listened-to component.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mouseReleased</a:t>
                      </a: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</a:t>
                      </a:r>
                      <a:r>
                        <a:rPr lang="en-US" sz="2400" kern="12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MouseEvent</a:t>
                      </a: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Called just after the user releases a mouse button after a mouse press over the listened-to component.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51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2920" y="0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err="1">
                <a:effectLst/>
                <a:latin typeface="Times New Roman" pitchFamily="18" charset="0"/>
                <a:cs typeface="Times New Roman" pitchFamily="18" charset="0"/>
              </a:rPr>
              <a:t>MouseMotionListener</a:t>
            </a:r>
            <a:r>
              <a:rPr lang="en-US" sz="3600" b="1" dirty="0">
                <a:effectLst/>
                <a:latin typeface="Times New Roman" pitchFamily="18" charset="0"/>
                <a:cs typeface="Times New Roman" pitchFamily="18" charset="0"/>
              </a:rPr>
              <a:t> Interface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257800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Mouse-motion events notify when the user uses the mouse (or a similar input device) to move the onscreen cursor.</a:t>
            </a:r>
          </a:p>
          <a:p>
            <a:endParaRPr lang="en-US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If an application requires the detection of both mouse events and mouse-motion events, use the MouseInputAdapter class. </a:t>
            </a:r>
          </a:p>
          <a:p>
            <a:endParaRPr lang="en-US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 implements the MouseInputListener a convenient interface that implements both the </a:t>
            </a:r>
            <a:r>
              <a:rPr lang="en-US" sz="2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MouseListener</a:t>
            </a:r>
            <a:r>
              <a:rPr lang="en-US" sz="2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MouseMotionListener</a:t>
            </a:r>
            <a:r>
              <a:rPr lang="en-US" sz="2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interfaces.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52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2920" y="0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Methods of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MouseMotionListener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Interface</a:t>
            </a:r>
            <a:endParaRPr lang="en-US" sz="28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4063540"/>
              </p:ext>
            </p:extLst>
          </p:nvPr>
        </p:nvGraphicFramePr>
        <p:xfrm>
          <a:off x="457200" y="1219200"/>
          <a:ext cx="8382000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3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itchFamily="18" charset="0"/>
                          <a:cs typeface="Times New Roman" pitchFamily="18" charset="0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Times New Roman" pitchFamily="18" charset="0"/>
                          <a:cs typeface="Times New Roman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mouseDragged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MouseEvent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Called in response to the user moving the mouse while holding a mouse button down. This event is fired by the component that fired the most recent mouse-pressed event, even if the cursor is no longer over that component.</a:t>
                      </a:r>
                    </a:p>
                    <a:p>
                      <a:pPr algn="l"/>
                      <a:endParaRPr lang="en-US" sz="2000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2000" b="1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mouseMoved(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MouseEvent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206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Called in response to the user moving the mouse with no mouse buttons pressed. This event is fired by the component that's currently under the cursor.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53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1481"/>
            <a:ext cx="8229600" cy="5429288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4800" b="1" dirty="0">
              <a:solidFill>
                <a:srgbClr val="7030A0"/>
              </a:solidFill>
            </a:endParaRPr>
          </a:p>
          <a:p>
            <a:pPr algn="ctr">
              <a:buNone/>
            </a:pPr>
            <a:endParaRPr lang="en-US" sz="4800" b="1" dirty="0">
              <a:solidFill>
                <a:srgbClr val="7030A0"/>
              </a:solidFill>
            </a:endParaRPr>
          </a:p>
          <a:p>
            <a:pPr algn="ctr">
              <a:buNone/>
            </a:pPr>
            <a:r>
              <a:rPr lang="en-US" sz="5400" b="1" dirty="0">
                <a:solidFill>
                  <a:srgbClr val="7030A0"/>
                </a:solidFill>
              </a:rPr>
              <a:t>Summary of Event Classes &amp; Listeners</a:t>
            </a:r>
            <a:endParaRPr lang="en-IN" sz="5400" b="1" dirty="0">
              <a:solidFill>
                <a:srgbClr val="7030A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54</a:t>
            </a:fld>
            <a:endParaRPr lang="en-I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9144000" cy="662940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55</a:t>
            </a:fld>
            <a:endParaRPr lang="en-I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56</a:t>
            </a:fld>
            <a:endParaRPr lang="en-I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57</a:t>
            </a:fld>
            <a:endParaRPr lang="en-IN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4" descr="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8991600" cy="685800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58</a:t>
            </a:fld>
            <a:endParaRPr lang="en-IN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Adapter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Java provides a special feature, called an adapter class that can simplify</a:t>
            </a:r>
          </a:p>
          <a:p>
            <a:r>
              <a:rPr lang="en-GB" dirty="0"/>
              <a:t>the creation of event handlers in certain situations. An adapter class provides</a:t>
            </a:r>
          </a:p>
          <a:p>
            <a:r>
              <a:rPr lang="en-GB" dirty="0"/>
              <a:t>an empty implementation of all methods in an event listener interface. Adapter</a:t>
            </a:r>
          </a:p>
          <a:p>
            <a:r>
              <a:rPr lang="en-GB" dirty="0"/>
              <a:t>classes are useful when we want to receive and process only some of the</a:t>
            </a:r>
          </a:p>
          <a:p>
            <a:r>
              <a:rPr lang="en-GB" dirty="0"/>
              <a:t>events that are handled by a particular event listener interface. We can define a</a:t>
            </a:r>
          </a:p>
          <a:p>
            <a:r>
              <a:rPr lang="en-GB" dirty="0"/>
              <a:t>new class to act as an event listener by extending one of the adapter classes</a:t>
            </a:r>
          </a:p>
          <a:p>
            <a:r>
              <a:rPr lang="en-GB" dirty="0"/>
              <a:t>and implementing only those events in which we are interested. For example,</a:t>
            </a:r>
          </a:p>
          <a:p>
            <a:r>
              <a:rPr lang="en-GB" dirty="0"/>
              <a:t>the </a:t>
            </a:r>
            <a:r>
              <a:rPr lang="en-GB" dirty="0" err="1"/>
              <a:t>MouseMotionAdapter</a:t>
            </a:r>
            <a:r>
              <a:rPr lang="en-GB" dirty="0"/>
              <a:t> class has two methods, </a:t>
            </a:r>
            <a:r>
              <a:rPr lang="en-GB" dirty="0" err="1"/>
              <a:t>mouseDragged</a:t>
            </a:r>
            <a:r>
              <a:rPr lang="en-GB" dirty="0"/>
              <a:t>( ) and</a:t>
            </a:r>
          </a:p>
          <a:p>
            <a:r>
              <a:rPr lang="en-GB" dirty="0" err="1"/>
              <a:t>mouseMoved</a:t>
            </a:r>
            <a:r>
              <a:rPr lang="en-GB" dirty="0"/>
              <a:t>( 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7EEA-85D2-497E-9C95-F3C1348C26C9}" type="slidenum">
              <a:rPr lang="en-IN" smtClean="0"/>
              <a:pPr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858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5267</TotalTime>
  <Words>3970</Words>
  <Application>Microsoft Office PowerPoint</Application>
  <PresentationFormat>On-screen Show (4:3)</PresentationFormat>
  <Paragraphs>485</Paragraphs>
  <Slides>59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Arial</vt:lpstr>
      <vt:lpstr>Calibri</vt:lpstr>
      <vt:lpstr>Cambria</vt:lpstr>
      <vt:lpstr>Times New Roman</vt:lpstr>
      <vt:lpstr>Verdana</vt:lpstr>
      <vt:lpstr>Wingdings</vt:lpstr>
      <vt:lpstr>Office Theme</vt:lpstr>
      <vt:lpstr>Event Handling </vt:lpstr>
      <vt:lpstr>javax</vt:lpstr>
      <vt:lpstr>Event Handling</vt:lpstr>
      <vt:lpstr>PowerPoint Presentation</vt:lpstr>
      <vt:lpstr>Delegation Event Model</vt:lpstr>
      <vt:lpstr>Delegation Event Model</vt:lpstr>
      <vt:lpstr>PowerPoint Presentation</vt:lpstr>
      <vt:lpstr>PowerPoint Presentation</vt:lpstr>
      <vt:lpstr>Components of Event Handling</vt:lpstr>
      <vt:lpstr>Event</vt:lpstr>
      <vt:lpstr>Event Sources</vt:lpstr>
      <vt:lpstr>PowerPoint Presentation</vt:lpstr>
      <vt:lpstr>PowerPoint Presentation</vt:lpstr>
      <vt:lpstr>Event Listeners</vt:lpstr>
      <vt:lpstr>Event Listeners</vt:lpstr>
      <vt:lpstr>PowerPoint Presentation</vt:lpstr>
      <vt:lpstr>PowerPoint Presentation</vt:lpstr>
      <vt:lpstr>Event Classes</vt:lpstr>
      <vt:lpstr>Event Classes</vt:lpstr>
      <vt:lpstr>PowerPoint Presentation</vt:lpstr>
      <vt:lpstr>PowerPoint Presentation</vt:lpstr>
      <vt:lpstr>PowerPoint Presentation</vt:lpstr>
      <vt:lpstr>ActionEvent</vt:lpstr>
      <vt:lpstr>Constructor-1</vt:lpstr>
      <vt:lpstr>Constructor-2</vt:lpstr>
      <vt:lpstr>Methods</vt:lpstr>
      <vt:lpstr>ActionListener Interface</vt:lpstr>
      <vt:lpstr>ItemEvent class </vt:lpstr>
      <vt:lpstr>PowerPoint Presentation</vt:lpstr>
      <vt:lpstr>Methods of ItemEvent Class</vt:lpstr>
      <vt:lpstr>ItemListener interface </vt:lpstr>
      <vt:lpstr>KeyEvent class </vt:lpstr>
      <vt:lpstr>PowerPoint Presentation</vt:lpstr>
      <vt:lpstr>Methods of KeyEvent class</vt:lpstr>
      <vt:lpstr>KeyListener Interface</vt:lpstr>
      <vt:lpstr>PowerPoint Presentation</vt:lpstr>
      <vt:lpstr>Methods of KeyListener Interface</vt:lpstr>
      <vt:lpstr>TextEvent class </vt:lpstr>
      <vt:lpstr>TextListener interface </vt:lpstr>
      <vt:lpstr>WindowEvent class </vt:lpstr>
      <vt:lpstr>int constants </vt:lpstr>
      <vt:lpstr>Constructors</vt:lpstr>
      <vt:lpstr>PowerPoint Presentation</vt:lpstr>
      <vt:lpstr>WindowListener interface </vt:lpstr>
      <vt:lpstr>WindowFocusListener interface</vt:lpstr>
      <vt:lpstr>MouseEvent class</vt:lpstr>
      <vt:lpstr>PowerPoint Presentation</vt:lpstr>
      <vt:lpstr>Constructor</vt:lpstr>
      <vt:lpstr>PowerPoint Presentation</vt:lpstr>
      <vt:lpstr>MouseListener Interface</vt:lpstr>
      <vt:lpstr>Methods of MouseListener Interface</vt:lpstr>
      <vt:lpstr>MouseMotionListener Interface</vt:lpstr>
      <vt:lpstr>Methods of MouseMotionListener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Adapter Classes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Handling</dc:title>
  <dc:creator>Prag</dc:creator>
  <cp:lastModifiedBy>Shital Bhalgat</cp:lastModifiedBy>
  <cp:revision>98</cp:revision>
  <dcterms:created xsi:type="dcterms:W3CDTF">2016-01-18T03:57:12Z</dcterms:created>
  <dcterms:modified xsi:type="dcterms:W3CDTF">2026-03-15T16:05:36Z</dcterms:modified>
</cp:coreProperties>
</file>